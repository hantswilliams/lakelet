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The one-liner is the product: local by default, burst only when needed, on the customer's own cloud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figures from industry reporting (DataExpert, Medium, Sep 2026). The $4,212 example is illustrative; replace with a design-partner bill before investor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timing argument. Investors will ask "why hasn't MotherDuck done this" — the answer is that Iceberg write support only landed in May, and MotherDuck's model is their cloud, not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Apple newsroom (M5 Pro/Max, Mar 2026; Mac Studio M5 Ultra, Aug 2026); NVIDIA DGX Spark price notice (Feb 2026); DataExpert (Sep 2026). The point is not that laptops replace warehouses at a petabyte; it is that below a terabyte the local machine is the faster, cheaper default, and the gauge is what lets a team act on that without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sources: Research and Markets ($14.53B 2026 → $31.7B 2030), Mordor ($14.94B → $49.12B 2031), Fortune Business Insights ($16.53B 2026). SME share 39% and 31% SME CAGR from Mordor. Snowflake from the FY2026 10-K and Q4 8-K. Databricks from Sacra. SAM sub-terabyte share is an estimate; say so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four-minute flow here: drop a CSV, ask, Green, change the question, Red, click, watch the cost. Then flip Simple→Technical to show the dbt model and commit that the non-developer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Supabase "Introducing Supabase for Platforms" (Dec 2025), "Lovable Cloud + Supabase" (Sep 2025), Supabase for Agents page, and June 2026 Series F coverage (60%+ of launches by AI tools, 6x YoY). Lakelet's mcp server is a thin wrapper over the same core: about a week of work in Day 0. The differentiator is not the MCP server, which everyone will have; it is that the gauge and the cap already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MotherDuck contrast and the enterprise answer on one slide. The only row that moves as a customer grows is catalog metadata: laptop → Lakelet → their VPC.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revenue lines: seats (predictable) and burst margin (scales with data). The bar chart is the receipt from the landing page; swap in a real design-partner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buys: solo DEs and 2–10 person teams under 1 TB paying $3–5K/month first; learners on the free tier second. Biggest risk remains AWS shipping "DuckDB serverless"; moat is the catalog, the calibration data and multi-cloud, not the engine. Scores are the founding team's; invite the investor to move any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 figures: $500M Series F at $10.5B post-money led by GIC (June 2026); ARR $170M in May 2026; 250,000+ customers; pricing Free / Pro $25 / Team $599 with compute billed separately. MotherDuck: ~$133M raised, ~$496M valuation at May 2025 extension, no priced Series C announced as of June 2026. Investors will map Lakelet onto Supabase instantly; let them, then point at MotherDuck as proof the category funds and at "your bucket" as the reason we are not MotherDuck.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Rounds and phases are the same thing from two sides. Pre-seed is raised on Day 0 evidence: the demo, ten partners, spikes passed, $0 revenue said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size and milestones are placeholders to pressure-test; adjust to actual hiring plan and runway.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29"/>
        </a:solidFill>
      </p:bgPr>
    </p:bg>
    <p:spTree>
      <p:nvGrpSpPr>
        <p:cNvPr id="1" name=""/>
        <p:cNvGrpSpPr/>
        <p:nvPr/>
      </p:nvGrpSpPr>
      <p:grpSpPr>
        <a:xfrm>
          <a:off x="0" y="0"/>
          <a:ext cx="0" cy="0"/>
          <a:chOff x="0" y="0"/>
          <a:chExt cx="0" cy="0"/>
        </a:xfrm>
      </p:grpSpPr>
      <p:sp>
        <p:nvSpPr>
          <p:cNvPr id="2" name="Text 0"/>
          <p:cNvSpPr txBox="1"/>
          <p:nvPr/>
        </p:nvSpPr>
        <p:spPr>
          <a:xfrm>
            <a:off x="548640" y="548640"/>
            <a:ext cx="3657600" cy="457200"/>
          </a:xfrm>
          <a:prstGeom prst="rect">
            <a:avLst/>
          </a:prstGeom>
          <a:noFill/>
          <a:ln/>
        </p:spPr>
        <p:txBody>
          <a:bodyPr wrap="square" lIns="0" tIns="0" rIns="0" bIns="0" rtlCol="0" anchor="t"/>
          <a:lstStyle/>
          <a:p>
            <a:pPr algn="l" indent="0" marL="0">
              <a:lnSpc>
                <a:spcPct val="115000"/>
              </a:lnSpc>
              <a:buNone/>
            </a:pPr>
            <a:r>
              <a:rPr lang="en-US" sz="1800" b="1" dirty="0">
                <a:solidFill>
                  <a:srgbClr val="FFFFFF"/>
                </a:solidFill>
                <a:latin typeface="Calibri" pitchFamily="34" charset="0"/>
                <a:ea typeface="Calibri" pitchFamily="34" charset="-122"/>
                <a:cs typeface="Calibri" pitchFamily="34" charset="-120"/>
              </a:rPr>
              <a:t>Lakelet</a:t>
            </a:r>
            <a:endParaRPr lang="en-US" sz="1800" dirty="0"/>
          </a:p>
        </p:txBody>
      </p:sp>
      <p:sp>
        <p:nvSpPr>
          <p:cNvPr id="3" name="Text 1"/>
          <p:cNvSpPr txBox="1"/>
          <p:nvPr/>
        </p:nvSpPr>
        <p:spPr>
          <a:xfrm>
            <a:off x="548640" y="2011680"/>
            <a:ext cx="8686800" cy="1463040"/>
          </a:xfrm>
          <a:prstGeom prst="rect">
            <a:avLst/>
          </a:prstGeom>
          <a:noFill/>
          <a:ln/>
        </p:spPr>
        <p:txBody>
          <a:bodyPr wrap="square" lIns="0" tIns="0" rIns="0" bIns="0" rtlCol="0" anchor="t"/>
          <a:lstStyle/>
          <a:p>
            <a:pPr algn="l" indent="0" marL="0">
              <a:lnSpc>
                <a:spcPct val="100000"/>
              </a:lnSpc>
              <a:buNone/>
            </a:pPr>
            <a:r>
              <a:rPr lang="en-US" sz="5400" b="1" spc="-200" kern="0" dirty="0">
                <a:solidFill>
                  <a:srgbClr val="FFFFFF"/>
                </a:solidFill>
                <a:latin typeface="Calibri" pitchFamily="34" charset="0"/>
                <a:ea typeface="Calibri" pitchFamily="34" charset="-122"/>
                <a:cs typeface="Calibri" pitchFamily="34" charset="-120"/>
              </a:rPr>
              <a:t>Your data fits on your laptop.</a:t>
            </a:r>
            <a:endParaRPr lang="en-US" sz="5400" dirty="0"/>
          </a:p>
        </p:txBody>
      </p:sp>
      <p:sp>
        <p:nvSpPr>
          <p:cNvPr id="4" name="Text 2"/>
          <p:cNvSpPr txBox="1"/>
          <p:nvPr/>
        </p:nvSpPr>
        <p:spPr>
          <a:xfrm>
            <a:off x="548640" y="3611880"/>
            <a:ext cx="7315200" cy="822960"/>
          </a:xfrm>
          <a:prstGeom prst="rect">
            <a:avLst/>
          </a:prstGeom>
          <a:noFill/>
          <a:ln/>
        </p:spPr>
        <p:txBody>
          <a:bodyPr wrap="square" lIns="0" tIns="0" rIns="0" bIns="0" rtlCol="0" anchor="t"/>
          <a:lstStyle/>
          <a:p>
            <a:pPr algn="l" indent="0" marL="0">
              <a:lnSpc>
                <a:spcPct val="115000"/>
              </a:lnSpc>
              <a:buNone/>
            </a:pPr>
            <a:r>
              <a:rPr lang="en-US" sz="2000" dirty="0">
                <a:solidFill>
                  <a:srgbClr val="C9D2DC"/>
                </a:solidFill>
                <a:latin typeface="Calibri" pitchFamily="34" charset="0"/>
                <a:ea typeface="Calibri" pitchFamily="34" charset="-122"/>
                <a:cs typeface="Calibri" pitchFamily="34" charset="-120"/>
              </a:rPr>
              <a:t>A local-first lakehouse anyone can ask questions of. It borrows a bigger computer only for the runs that need one.</a:t>
            </a:r>
            <a:endParaRPr lang="en-US" sz="2000" dirty="0"/>
          </a:p>
        </p:txBody>
      </p:sp>
      <p:sp>
        <p:nvSpPr>
          <p:cNvPr id="5" name="Shape 3"/>
          <p:cNvSpPr/>
          <p:nvPr/>
        </p:nvSpPr>
        <p:spPr>
          <a:xfrm>
            <a:off x="8595360" y="2103120"/>
            <a:ext cx="3017520" cy="2286000"/>
          </a:xfrm>
          <a:prstGeom prst="roundRect">
            <a:avLst>
              <a:gd name="adj" fmla="val 4800"/>
            </a:avLst>
          </a:prstGeom>
          <a:solidFill>
            <a:srgbClr val="22303D"/>
          </a:solidFill>
          <a:ln w="9525">
            <a:solidFill>
              <a:srgbClr val="3A4856"/>
            </a:solidFill>
            <a:prstDash val="solid"/>
          </a:ln>
        </p:spPr>
      </p:sp>
      <p:sp>
        <p:nvSpPr>
          <p:cNvPr id="6" name="Text 4"/>
          <p:cNvSpPr txBox="1"/>
          <p:nvPr/>
        </p:nvSpPr>
        <p:spPr>
          <a:xfrm>
            <a:off x="8823960" y="2286000"/>
            <a:ext cx="2560320" cy="274320"/>
          </a:xfrm>
          <a:prstGeom prst="rect">
            <a:avLst/>
          </a:prstGeom>
          <a:noFill/>
          <a:ln/>
        </p:spPr>
        <p:txBody>
          <a:bodyPr wrap="square" lIns="0" tIns="0" rIns="0" bIns="0" rtlCol="0" anchor="t"/>
          <a:lstStyle/>
          <a:p>
            <a:pPr algn="l" indent="0" marL="0">
              <a:lnSpc>
                <a:spcPct val="115000"/>
              </a:lnSpc>
              <a:buNone/>
            </a:pPr>
            <a:r>
              <a:rPr lang="en-US" sz="1100" b="1" dirty="0">
                <a:solidFill>
                  <a:srgbClr val="9AA8B6"/>
                </a:solidFill>
                <a:latin typeface="Calibri" pitchFamily="34" charset="0"/>
                <a:ea typeface="Calibri" pitchFamily="34" charset="-122"/>
                <a:cs typeface="Calibri" pitchFamily="34" charset="-120"/>
              </a:rPr>
              <a:t>Pre-flight check</a:t>
            </a:r>
            <a:endParaRPr lang="en-US" sz="1100" dirty="0"/>
          </a:p>
        </p:txBody>
      </p:sp>
      <p:sp>
        <p:nvSpPr>
          <p:cNvPr id="7" name="Text 5"/>
          <p:cNvSpPr txBox="1"/>
          <p:nvPr/>
        </p:nvSpPr>
        <p:spPr>
          <a:xfrm>
            <a:off x="8823960" y="2743200"/>
            <a:ext cx="914400" cy="228600"/>
          </a:xfrm>
          <a:prstGeom prst="rect">
            <a:avLst/>
          </a:prstGeom>
          <a:noFill/>
          <a:ln/>
        </p:spPr>
        <p:txBody>
          <a:bodyPr wrap="square" lIns="0" tIns="0" rIns="0" bIns="0" rtlCol="0" anchor="t"/>
          <a:lstStyle/>
          <a:p>
            <a:pPr algn="l" indent="0" marL="0">
              <a:lnSpc>
                <a:spcPct val="115000"/>
              </a:lnSpc>
              <a:buNone/>
            </a:pPr>
            <a:r>
              <a:rPr lang="en-US" sz="1100" dirty="0">
                <a:solidFill>
                  <a:srgbClr val="C9D2DC"/>
                </a:solidFill>
                <a:latin typeface="Calibri" pitchFamily="34" charset="0"/>
                <a:ea typeface="Calibri" pitchFamily="34" charset="-122"/>
                <a:cs typeface="Calibri" pitchFamily="34" charset="-120"/>
              </a:rPr>
              <a:t>Memory</a:t>
            </a:r>
            <a:endParaRPr lang="en-US" sz="1100" dirty="0"/>
          </a:p>
        </p:txBody>
      </p:sp>
      <p:sp>
        <p:nvSpPr>
          <p:cNvPr id="8" name="Shape 6"/>
          <p:cNvSpPr/>
          <p:nvPr/>
        </p:nvSpPr>
        <p:spPr>
          <a:xfrm>
            <a:off x="9692640" y="2788920"/>
            <a:ext cx="1691640" cy="128016"/>
          </a:xfrm>
          <a:prstGeom prst="roundRect">
            <a:avLst>
              <a:gd name="adj" fmla="val 50000"/>
            </a:avLst>
          </a:prstGeom>
          <a:solidFill>
            <a:srgbClr val="3A4856"/>
          </a:solidFill>
          <a:ln w="12700">
            <a:solidFill>
              <a:srgbClr val="3A4856"/>
            </a:solidFill>
            <a:prstDash val="solid"/>
          </a:ln>
        </p:spPr>
      </p:sp>
      <p:sp>
        <p:nvSpPr>
          <p:cNvPr id="9" name="Shape 7"/>
          <p:cNvSpPr/>
          <p:nvPr/>
        </p:nvSpPr>
        <p:spPr>
          <a:xfrm>
            <a:off x="9692640" y="2788920"/>
            <a:ext cx="710489" cy="128016"/>
          </a:xfrm>
          <a:prstGeom prst="roundRect">
            <a:avLst>
              <a:gd name="adj" fmla="val 50000"/>
            </a:avLst>
          </a:prstGeom>
          <a:solidFill>
            <a:srgbClr val="1F8A5B"/>
          </a:solidFill>
          <a:ln w="12700">
            <a:solidFill>
              <a:srgbClr val="1F8A5B"/>
            </a:solidFill>
            <a:prstDash val="solid"/>
          </a:ln>
        </p:spPr>
      </p:sp>
      <p:sp>
        <p:nvSpPr>
          <p:cNvPr id="10" name="Text 8"/>
          <p:cNvSpPr txBox="1"/>
          <p:nvPr/>
        </p:nvSpPr>
        <p:spPr>
          <a:xfrm>
            <a:off x="8823960" y="3154680"/>
            <a:ext cx="914400" cy="228600"/>
          </a:xfrm>
          <a:prstGeom prst="rect">
            <a:avLst/>
          </a:prstGeom>
          <a:noFill/>
          <a:ln/>
        </p:spPr>
        <p:txBody>
          <a:bodyPr wrap="square" lIns="0" tIns="0" rIns="0" bIns="0" rtlCol="0" anchor="t"/>
          <a:lstStyle/>
          <a:p>
            <a:pPr algn="l" indent="0" marL="0">
              <a:lnSpc>
                <a:spcPct val="115000"/>
              </a:lnSpc>
              <a:buNone/>
            </a:pPr>
            <a:r>
              <a:rPr lang="en-US" sz="1100" dirty="0">
                <a:solidFill>
                  <a:srgbClr val="C9D2DC"/>
                </a:solidFill>
                <a:latin typeface="Calibri" pitchFamily="34" charset="0"/>
                <a:ea typeface="Calibri" pitchFamily="34" charset="-122"/>
                <a:cs typeface="Calibri" pitchFamily="34" charset="-120"/>
              </a:rPr>
              <a:t>Est. time</a:t>
            </a:r>
            <a:endParaRPr lang="en-US" sz="1100" dirty="0"/>
          </a:p>
        </p:txBody>
      </p:sp>
      <p:sp>
        <p:nvSpPr>
          <p:cNvPr id="11" name="Shape 9"/>
          <p:cNvSpPr/>
          <p:nvPr/>
        </p:nvSpPr>
        <p:spPr>
          <a:xfrm>
            <a:off x="9692640" y="3200400"/>
            <a:ext cx="1691640" cy="128016"/>
          </a:xfrm>
          <a:prstGeom prst="roundRect">
            <a:avLst>
              <a:gd name="adj" fmla="val 50000"/>
            </a:avLst>
          </a:prstGeom>
          <a:solidFill>
            <a:srgbClr val="3A4856"/>
          </a:solidFill>
          <a:ln w="12700">
            <a:solidFill>
              <a:srgbClr val="3A4856"/>
            </a:solidFill>
            <a:prstDash val="solid"/>
          </a:ln>
        </p:spPr>
      </p:sp>
      <p:sp>
        <p:nvSpPr>
          <p:cNvPr id="12" name="Shape 10"/>
          <p:cNvSpPr/>
          <p:nvPr/>
        </p:nvSpPr>
        <p:spPr>
          <a:xfrm>
            <a:off x="9692640" y="3200400"/>
            <a:ext cx="338328" cy="128016"/>
          </a:xfrm>
          <a:prstGeom prst="roundRect">
            <a:avLst>
              <a:gd name="adj" fmla="val 50000"/>
            </a:avLst>
          </a:prstGeom>
          <a:solidFill>
            <a:srgbClr val="1F8A5B"/>
          </a:solidFill>
          <a:ln w="12700">
            <a:solidFill>
              <a:srgbClr val="1F8A5B"/>
            </a:solidFill>
            <a:prstDash val="solid"/>
          </a:ln>
        </p:spPr>
      </p:sp>
      <p:sp>
        <p:nvSpPr>
          <p:cNvPr id="13" name="Shape 11"/>
          <p:cNvSpPr/>
          <p:nvPr/>
        </p:nvSpPr>
        <p:spPr>
          <a:xfrm>
            <a:off x="8823960" y="3730752"/>
            <a:ext cx="182880" cy="182880"/>
          </a:xfrm>
          <a:prstGeom prst="ellipse">
            <a:avLst/>
          </a:prstGeom>
          <a:solidFill>
            <a:srgbClr val="1F8A5B"/>
          </a:solidFill>
          <a:ln w="12700">
            <a:solidFill>
              <a:srgbClr val="1F8A5B"/>
            </a:solidFill>
            <a:prstDash val="solid"/>
          </a:ln>
        </p:spPr>
      </p:sp>
      <p:sp>
        <p:nvSpPr>
          <p:cNvPr id="14" name="Text 12"/>
          <p:cNvSpPr txBox="1"/>
          <p:nvPr/>
        </p:nvSpPr>
        <p:spPr>
          <a:xfrm>
            <a:off x="9098280" y="3675888"/>
            <a:ext cx="1828800" cy="274320"/>
          </a:xfrm>
          <a:prstGeom prst="rect">
            <a:avLst/>
          </a:prstGeom>
          <a:noFill/>
          <a:ln/>
        </p:spPr>
        <p:txBody>
          <a:bodyPr wrap="square" lIns="0" tIns="0" rIns="0" bIns="0" rtlCol="0" anchor="t"/>
          <a:lstStyle/>
          <a:p>
            <a:pPr algn="l" indent="0" marL="0">
              <a:lnSpc>
                <a:spcPct val="115000"/>
              </a:lnSpc>
              <a:buNone/>
            </a:pPr>
            <a:r>
              <a:rPr lang="en-US" sz="1300" b="1" dirty="0">
                <a:solidFill>
                  <a:srgbClr val="FFFFFF"/>
                </a:solidFill>
                <a:latin typeface="Calibri" pitchFamily="34" charset="0"/>
                <a:ea typeface="Calibri" pitchFamily="34" charset="-122"/>
                <a:cs typeface="Calibri" pitchFamily="34" charset="-120"/>
              </a:rPr>
              <a:t>Runs here</a:t>
            </a:r>
            <a:endParaRPr lang="en-US" sz="1300" dirty="0"/>
          </a:p>
        </p:txBody>
      </p:sp>
      <p:sp>
        <p:nvSpPr>
          <p:cNvPr id="15" name="Text 13"/>
          <p:cNvSpPr txBox="1"/>
          <p:nvPr/>
        </p:nvSpPr>
        <p:spPr>
          <a:xfrm>
            <a:off x="9098280" y="3913632"/>
            <a:ext cx="2377440" cy="274320"/>
          </a:xfrm>
          <a:prstGeom prst="rect">
            <a:avLst/>
          </a:prstGeom>
          <a:noFill/>
          <a:ln/>
        </p:spPr>
        <p:txBody>
          <a:bodyPr wrap="square" lIns="0" tIns="0" rIns="0" bIns="0" rtlCol="0" anchor="t"/>
          <a:lstStyle/>
          <a:p>
            <a:pPr algn="l" indent="0" marL="0">
              <a:lnSpc>
                <a:spcPct val="115000"/>
              </a:lnSpc>
              <a:buNone/>
            </a:pPr>
            <a:r>
              <a:rPr lang="en-US" sz="1000" dirty="0">
                <a:solidFill>
                  <a:srgbClr val="9AA8B6"/>
                </a:solidFill>
                <a:latin typeface="Calibri" pitchFamily="34" charset="0"/>
                <a:ea typeface="Calibri" pitchFamily="34" charset="-122"/>
                <a:cs typeface="Calibri" pitchFamily="34" charset="-120"/>
              </a:rPr>
              <a:t>Fits in memory. Costs nothing.</a:t>
            </a:r>
            <a:endParaRPr lang="en-US" sz="1000" dirty="0"/>
          </a:p>
        </p:txBody>
      </p:sp>
      <p:sp>
        <p:nvSpPr>
          <p:cNvPr id="16" name="Text 14"/>
          <p:cNvSpPr txBox="1"/>
          <p:nvPr/>
        </p:nvSpPr>
        <p:spPr>
          <a:xfrm>
            <a:off x="548640" y="6035040"/>
            <a:ext cx="5486400" cy="274320"/>
          </a:xfrm>
          <a:prstGeom prst="rect">
            <a:avLst/>
          </a:prstGeom>
          <a:noFill/>
          <a:ln/>
        </p:spPr>
        <p:txBody>
          <a:bodyPr wrap="square" lIns="0" tIns="0" rIns="0" bIns="0" rtlCol="0" anchor="t"/>
          <a:lstStyle/>
          <a:p>
            <a:pPr algn="l" indent="0" marL="0">
              <a:lnSpc>
                <a:spcPct val="115000"/>
              </a:lnSpc>
              <a:buNone/>
            </a:pPr>
            <a:r>
              <a:rPr lang="en-US" sz="1200" dirty="0">
                <a:solidFill>
                  <a:srgbClr val="9AA8B6"/>
                </a:solidFill>
                <a:latin typeface="Calibri" pitchFamily="34" charset="0"/>
                <a:ea typeface="Calibri" pitchFamily="34" charset="-122"/>
                <a:cs typeface="Calibri" pitchFamily="34" charset="-120"/>
              </a:rPr>
              <a:t>Pre-seed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Most teams pay by the second for a computer they already own.</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A cloud warehouse makes sense at a petabyte. Below a terabyte, a laptop is usually faster, and it doesn't tick.</a:t>
            </a:r>
            <a:endParaRPr lang="en-US" sz="1600" dirty="0"/>
          </a:p>
        </p:txBody>
      </p:sp>
      <p:sp>
        <p:nvSpPr>
          <p:cNvPr id="4" name="Shape 2"/>
          <p:cNvSpPr/>
          <p:nvPr/>
        </p:nvSpPr>
        <p:spPr>
          <a:xfrm>
            <a:off x="548640" y="2194560"/>
            <a:ext cx="3520440" cy="2011680"/>
          </a:xfrm>
          <a:prstGeom prst="roundRect">
            <a:avLst>
              <a:gd name="adj" fmla="val 5455"/>
            </a:avLst>
          </a:prstGeom>
          <a:solidFill>
            <a:srgbClr val="FFFFFF"/>
          </a:solidFill>
          <a:ln w="9525">
            <a:solidFill>
              <a:srgbClr val="D5DBE2"/>
            </a:solidFill>
            <a:prstDash val="solid"/>
          </a:ln>
        </p:spPr>
      </p:sp>
      <p:sp>
        <p:nvSpPr>
          <p:cNvPr id="5" name="Text 3"/>
          <p:cNvSpPr txBox="1"/>
          <p:nvPr/>
        </p:nvSpPr>
        <p:spPr>
          <a:xfrm>
            <a:off x="822960" y="2423160"/>
            <a:ext cx="3017520" cy="731520"/>
          </a:xfrm>
          <a:prstGeom prst="rect">
            <a:avLst/>
          </a:prstGeom>
          <a:noFill/>
          <a:ln/>
        </p:spPr>
        <p:txBody>
          <a:bodyPr wrap="square" lIns="0" tIns="0" rIns="0" bIns="0" rtlCol="0" anchor="t"/>
          <a:lstStyle/>
          <a:p>
            <a:pPr algn="l" indent="0" marL="0">
              <a:lnSpc>
                <a:spcPct val="115000"/>
              </a:lnSpc>
              <a:buNone/>
            </a:pPr>
            <a:r>
              <a:rPr lang="en-US" sz="4000" b="1" spc="-100" kern="0" dirty="0">
                <a:solidFill>
                  <a:srgbClr val="172029"/>
                </a:solidFill>
                <a:latin typeface="Calibri" pitchFamily="34" charset="0"/>
                <a:ea typeface="Calibri" pitchFamily="34" charset="-122"/>
                <a:cs typeface="Calibri" pitchFamily="34" charset="-120"/>
              </a:rPr>
              <a:t>$745K</a:t>
            </a:r>
            <a:endParaRPr lang="en-US" sz="4000" dirty="0"/>
          </a:p>
        </p:txBody>
      </p:sp>
      <p:sp>
        <p:nvSpPr>
          <p:cNvPr id="6" name="Text 4"/>
          <p:cNvSpPr txBox="1"/>
          <p:nvPr/>
        </p:nvSpPr>
        <p:spPr>
          <a:xfrm>
            <a:off x="822960" y="3200400"/>
            <a:ext cx="2971800" cy="868680"/>
          </a:xfrm>
          <a:prstGeom prst="rect">
            <a:avLst/>
          </a:prstGeom>
          <a:noFill/>
          <a:ln/>
        </p:spPr>
        <p:txBody>
          <a:bodyPr wrap="square" lIns="0" tIns="0" rIns="0" bIns="0" rtlCol="0" anchor="t"/>
          <a:lstStyle/>
          <a:p>
            <a:pPr algn="l" indent="0" marL="0">
              <a:lnSpc>
                <a:spcPct val="115000"/>
              </a:lnSpc>
              <a:buNone/>
            </a:pPr>
            <a:r>
              <a:rPr lang="en-US" sz="1300" dirty="0">
                <a:solidFill>
                  <a:srgbClr val="5C6B7A"/>
                </a:solidFill>
                <a:latin typeface="Calibri" pitchFamily="34" charset="0"/>
                <a:ea typeface="Calibri" pitchFamily="34" charset="-122"/>
                <a:cs typeface="Calibri" pitchFamily="34" charset="-120"/>
              </a:rPr>
              <a:t>average annual Snowflake spend at enterprise tier; $500K for Databricks</a:t>
            </a:r>
            <a:endParaRPr lang="en-US" sz="1300" dirty="0"/>
          </a:p>
        </p:txBody>
      </p:sp>
      <p:sp>
        <p:nvSpPr>
          <p:cNvPr id="7" name="Shape 5"/>
          <p:cNvSpPr/>
          <p:nvPr/>
        </p:nvSpPr>
        <p:spPr>
          <a:xfrm>
            <a:off x="4297680" y="2194560"/>
            <a:ext cx="3520440" cy="2011680"/>
          </a:xfrm>
          <a:prstGeom prst="roundRect">
            <a:avLst>
              <a:gd name="adj" fmla="val 5455"/>
            </a:avLst>
          </a:prstGeom>
          <a:solidFill>
            <a:srgbClr val="FFFFFF"/>
          </a:solidFill>
          <a:ln w="9525">
            <a:solidFill>
              <a:srgbClr val="D5DBE2"/>
            </a:solidFill>
            <a:prstDash val="solid"/>
          </a:ln>
        </p:spPr>
      </p:sp>
      <p:sp>
        <p:nvSpPr>
          <p:cNvPr id="8" name="Text 6"/>
          <p:cNvSpPr txBox="1"/>
          <p:nvPr/>
        </p:nvSpPr>
        <p:spPr>
          <a:xfrm>
            <a:off x="4572000" y="2423160"/>
            <a:ext cx="3017520" cy="731520"/>
          </a:xfrm>
          <a:prstGeom prst="rect">
            <a:avLst/>
          </a:prstGeom>
          <a:noFill/>
          <a:ln/>
        </p:spPr>
        <p:txBody>
          <a:bodyPr wrap="square" lIns="0" tIns="0" rIns="0" bIns="0" rtlCol="0" anchor="t"/>
          <a:lstStyle/>
          <a:p>
            <a:pPr algn="l" indent="0" marL="0">
              <a:lnSpc>
                <a:spcPct val="115000"/>
              </a:lnSpc>
              <a:buNone/>
            </a:pPr>
            <a:r>
              <a:rPr lang="en-US" sz="4000" b="1" spc="-100" kern="0" dirty="0">
                <a:solidFill>
                  <a:srgbClr val="172029"/>
                </a:solidFill>
                <a:latin typeface="Calibri" pitchFamily="34" charset="0"/>
                <a:ea typeface="Calibri" pitchFamily="34" charset="-122"/>
                <a:cs typeface="Calibri" pitchFamily="34" charset="-120"/>
              </a:rPr>
              <a:t>$59K–185K</a:t>
            </a:r>
            <a:endParaRPr lang="en-US" sz="4000" dirty="0"/>
          </a:p>
        </p:txBody>
      </p:sp>
      <p:sp>
        <p:nvSpPr>
          <p:cNvPr id="9" name="Text 7"/>
          <p:cNvSpPr txBox="1"/>
          <p:nvPr/>
        </p:nvSpPr>
        <p:spPr>
          <a:xfrm>
            <a:off x="4572000" y="3200400"/>
            <a:ext cx="2971800" cy="868680"/>
          </a:xfrm>
          <a:prstGeom prst="rect">
            <a:avLst/>
          </a:prstGeom>
          <a:noFill/>
          <a:ln/>
        </p:spPr>
        <p:txBody>
          <a:bodyPr wrap="square" lIns="0" tIns="0" rIns="0" bIns="0" rtlCol="0" anchor="t"/>
          <a:lstStyle/>
          <a:p>
            <a:pPr algn="l" indent="0" marL="0">
              <a:lnSpc>
                <a:spcPct val="115000"/>
              </a:lnSpc>
              <a:buNone/>
            </a:pPr>
            <a:r>
              <a:rPr lang="en-US" sz="1300" dirty="0">
                <a:solidFill>
                  <a:srgbClr val="5C6B7A"/>
                </a:solidFill>
                <a:latin typeface="Calibri" pitchFamily="34" charset="0"/>
                <a:ea typeface="Calibri" pitchFamily="34" charset="-122"/>
                <a:cs typeface="Calibri" pitchFamily="34" charset="-120"/>
              </a:rPr>
              <a:t>what even SMB tiers cost per year, before egress or governance tooling</a:t>
            </a:r>
            <a:endParaRPr lang="en-US" sz="1300" dirty="0"/>
          </a:p>
        </p:txBody>
      </p:sp>
      <p:sp>
        <p:nvSpPr>
          <p:cNvPr id="10" name="Shape 8"/>
          <p:cNvSpPr/>
          <p:nvPr/>
        </p:nvSpPr>
        <p:spPr>
          <a:xfrm>
            <a:off x="8046720" y="2194560"/>
            <a:ext cx="3520440" cy="2011680"/>
          </a:xfrm>
          <a:prstGeom prst="roundRect">
            <a:avLst>
              <a:gd name="adj" fmla="val 5455"/>
            </a:avLst>
          </a:prstGeom>
          <a:solidFill>
            <a:srgbClr val="FFFFFF"/>
          </a:solidFill>
          <a:ln w="9525">
            <a:solidFill>
              <a:srgbClr val="D5DBE2"/>
            </a:solidFill>
            <a:prstDash val="solid"/>
          </a:ln>
        </p:spPr>
      </p:sp>
      <p:sp>
        <p:nvSpPr>
          <p:cNvPr id="11" name="Text 9"/>
          <p:cNvSpPr txBox="1"/>
          <p:nvPr/>
        </p:nvSpPr>
        <p:spPr>
          <a:xfrm>
            <a:off x="8321040" y="2423160"/>
            <a:ext cx="3017520" cy="731520"/>
          </a:xfrm>
          <a:prstGeom prst="rect">
            <a:avLst/>
          </a:prstGeom>
          <a:noFill/>
          <a:ln/>
        </p:spPr>
        <p:txBody>
          <a:bodyPr wrap="square" lIns="0" tIns="0" rIns="0" bIns="0" rtlCol="0" anchor="t"/>
          <a:lstStyle/>
          <a:p>
            <a:pPr algn="l" indent="0" marL="0">
              <a:lnSpc>
                <a:spcPct val="115000"/>
              </a:lnSpc>
              <a:buNone/>
            </a:pPr>
            <a:r>
              <a:rPr lang="en-US" sz="4000" b="1" spc="-100" kern="0" dirty="0">
                <a:solidFill>
                  <a:srgbClr val="172029"/>
                </a:solidFill>
                <a:latin typeface="Calibri" pitchFamily="34" charset="0"/>
                <a:ea typeface="Calibri" pitchFamily="34" charset="-122"/>
                <a:cs typeface="Calibri" pitchFamily="34" charset="-120"/>
              </a:rPr>
              <a:t>$1,200</a:t>
            </a:r>
            <a:endParaRPr lang="en-US" sz="4000" dirty="0"/>
          </a:p>
        </p:txBody>
      </p:sp>
      <p:sp>
        <p:nvSpPr>
          <p:cNvPr id="12" name="Text 10"/>
          <p:cNvSpPr txBox="1"/>
          <p:nvPr/>
        </p:nvSpPr>
        <p:spPr>
          <a:xfrm>
            <a:off x="8321040" y="3200400"/>
            <a:ext cx="2971800" cy="868680"/>
          </a:xfrm>
          <a:prstGeom prst="rect">
            <a:avLst/>
          </a:prstGeom>
          <a:noFill/>
          <a:ln/>
        </p:spPr>
        <p:txBody>
          <a:bodyPr wrap="square" lIns="0" tIns="0" rIns="0" bIns="0" rtlCol="0" anchor="t"/>
          <a:lstStyle/>
          <a:p>
            <a:pPr algn="l" indent="0" marL="0">
              <a:lnSpc>
                <a:spcPct val="115000"/>
              </a:lnSpc>
              <a:buNone/>
            </a:pPr>
            <a:r>
              <a:rPr lang="en-US" sz="1300" dirty="0">
                <a:solidFill>
                  <a:srgbClr val="5C6B7A"/>
                </a:solidFill>
                <a:latin typeface="Calibri" pitchFamily="34" charset="0"/>
                <a:ea typeface="Calibri" pitchFamily="34" charset="-122"/>
                <a:cs typeface="Calibri" pitchFamily="34" charset="-120"/>
              </a:rPr>
              <a:t>burned in three weeks by one engineer learning lakehouse patterns on trial credits</a:t>
            </a:r>
            <a:endParaRPr lang="en-US" sz="1300" dirty="0"/>
          </a:p>
        </p:txBody>
      </p:sp>
      <p:sp>
        <p:nvSpPr>
          <p:cNvPr id="13" name="Shape 11"/>
          <p:cNvSpPr/>
          <p:nvPr/>
        </p:nvSpPr>
        <p:spPr>
          <a:xfrm>
            <a:off x="548640" y="4526280"/>
            <a:ext cx="11091672" cy="1371600"/>
          </a:xfrm>
          <a:prstGeom prst="roundRect">
            <a:avLst>
              <a:gd name="adj" fmla="val 8000"/>
            </a:avLst>
          </a:prstGeom>
          <a:solidFill>
            <a:srgbClr val="FFFFFF"/>
          </a:solidFill>
          <a:ln w="9525">
            <a:solidFill>
              <a:srgbClr val="D5DBE2"/>
            </a:solidFill>
            <a:prstDash val="solid"/>
          </a:ln>
        </p:spPr>
      </p:sp>
      <p:sp>
        <p:nvSpPr>
          <p:cNvPr id="14" name="Text 12"/>
          <p:cNvSpPr txBox="1"/>
          <p:nvPr/>
        </p:nvSpPr>
        <p:spPr>
          <a:xfrm>
            <a:off x="822960" y="4709160"/>
            <a:ext cx="1828800" cy="274320"/>
          </a:xfrm>
          <a:prstGeom prst="rect">
            <a:avLst/>
          </a:prstGeom>
          <a:noFill/>
          <a:ln/>
        </p:spPr>
        <p:txBody>
          <a:bodyPr wrap="square" lIns="0" tIns="0" rIns="0" bIns="0" rtlCol="0" anchor="t"/>
          <a:lstStyle/>
          <a:p>
            <a:pPr algn="l" indent="0" marL="0">
              <a:lnSpc>
                <a:spcPct val="115000"/>
              </a:lnSpc>
              <a:buNone/>
            </a:pPr>
            <a:r>
              <a:rPr lang="en-US" sz="1200" b="1" dirty="0">
                <a:solidFill>
                  <a:srgbClr val="5C6B7A"/>
                </a:solidFill>
                <a:latin typeface="Calibri" pitchFamily="34" charset="0"/>
                <a:ea typeface="Calibri" pitchFamily="34" charset="-122"/>
                <a:cs typeface="Calibri" pitchFamily="34" charset="-120"/>
              </a:rPr>
              <a:t>The pattern</a:t>
            </a:r>
            <a:endParaRPr lang="en-US" sz="1200" dirty="0"/>
          </a:p>
        </p:txBody>
      </p:sp>
      <p:sp>
        <p:nvSpPr>
          <p:cNvPr id="15" name="Text 13"/>
          <p:cNvSpPr txBox="1"/>
          <p:nvPr/>
        </p:nvSpPr>
        <p:spPr>
          <a:xfrm>
            <a:off x="822960" y="4983480"/>
            <a:ext cx="10543032" cy="822960"/>
          </a:xfrm>
          <a:prstGeom prst="rect">
            <a:avLst/>
          </a:prstGeom>
          <a:noFill/>
          <a:ln/>
        </p:spPr>
        <p:txBody>
          <a:bodyPr wrap="square" lIns="0" tIns="0" rIns="0" bIns="0" rtlCol="0" anchor="t"/>
          <a:lstStyle/>
          <a:p>
            <a:pPr algn="l" indent="0" marL="0">
              <a:lnSpc>
                <a:spcPct val="115000"/>
              </a:lnSpc>
              <a:buNone/>
            </a:pPr>
            <a:r>
              <a:rPr lang="en-US" sz="1400" dirty="0">
                <a:solidFill>
                  <a:srgbClr val="172029"/>
                </a:solidFill>
                <a:latin typeface="Calibri" pitchFamily="34" charset="0"/>
                <a:ea typeface="Calibri" pitchFamily="34" charset="-122"/>
                <a:cs typeface="Calibri" pitchFamily="34" charset="-120"/>
              </a:rPr>
              <a:t>A team of five with 38 GB of data runs an X-Small warehouse nine hours a day, forgets auto-suspend twice, and pays $4,212 for a month of queries a MacBook would finish in seconds. The bill is not for the data. It is for the meter.</a:t>
            </a:r>
            <a:endParaRPr lang="en-US" sz="1400" dirty="0"/>
          </a:p>
        </p:txBody>
      </p:sp>
      <p:sp>
        <p:nvSpPr>
          <p:cNvPr id="16" name="Text 14"/>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17" name="Text 15"/>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Three tools hit production maturity within months of each other.</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Any two existed before spring 2026. All three together make a laptop lakehouse real, not a demo.</a:t>
            </a:r>
            <a:endParaRPr lang="en-US" sz="1600" dirty="0"/>
          </a:p>
        </p:txBody>
      </p:sp>
      <p:sp>
        <p:nvSpPr>
          <p:cNvPr id="4" name="Shape 2"/>
          <p:cNvSpPr/>
          <p:nvPr/>
        </p:nvSpPr>
        <p:spPr>
          <a:xfrm>
            <a:off x="1005840" y="2514600"/>
            <a:ext cx="10177272" cy="0"/>
          </a:xfrm>
          <a:prstGeom prst="line">
            <a:avLst/>
          </a:prstGeom>
          <a:noFill/>
          <a:ln w="19050">
            <a:solidFill>
              <a:srgbClr val="D5DBE2"/>
            </a:solidFill>
            <a:prstDash val="solid"/>
          </a:ln>
        </p:spPr>
      </p:sp>
      <p:sp>
        <p:nvSpPr>
          <p:cNvPr id="5" name="Shape 3"/>
          <p:cNvSpPr/>
          <p:nvPr/>
        </p:nvSpPr>
        <p:spPr>
          <a:xfrm>
            <a:off x="905256" y="2414016"/>
            <a:ext cx="201168" cy="201168"/>
          </a:xfrm>
          <a:prstGeom prst="ellipse">
            <a:avLst/>
          </a:prstGeom>
          <a:solidFill>
            <a:srgbClr val="172029"/>
          </a:solidFill>
          <a:ln w="12700">
            <a:solidFill>
              <a:srgbClr val="172029"/>
            </a:solidFill>
            <a:prstDash val="solid"/>
          </a:ln>
        </p:spPr>
      </p:sp>
      <p:sp>
        <p:nvSpPr>
          <p:cNvPr id="6" name="Text 4"/>
          <p:cNvSpPr txBox="1"/>
          <p:nvPr/>
        </p:nvSpPr>
        <p:spPr>
          <a:xfrm>
            <a:off x="1371600" y="2331720"/>
            <a:ext cx="2560320" cy="320040"/>
          </a:xfrm>
          <a:prstGeom prst="rect">
            <a:avLst/>
          </a:prstGeom>
          <a:noFill/>
          <a:ln/>
        </p:spPr>
        <p:txBody>
          <a:bodyPr wrap="square" lIns="0" tIns="0" rIns="0" bIns="0" rtlCol="0" anchor="t"/>
          <a:lstStyle/>
          <a:p>
            <a:pPr algn="l" indent="0" marL="0">
              <a:lnSpc>
                <a:spcPct val="115000"/>
              </a:lnSpc>
              <a:buNone/>
            </a:pPr>
            <a:r>
              <a:rPr lang="en-US" sz="1300" b="1" dirty="0">
                <a:solidFill>
                  <a:srgbClr val="5C6B7A"/>
                </a:solidFill>
                <a:latin typeface="Calibri" pitchFamily="34" charset="0"/>
                <a:ea typeface="Calibri" pitchFamily="34" charset="-122"/>
                <a:cs typeface="Calibri" pitchFamily="34" charset="-120"/>
              </a:rPr>
              <a:t>Feb–Apr 2026</a:t>
            </a:r>
            <a:endParaRPr lang="en-US" sz="1300" dirty="0"/>
          </a:p>
        </p:txBody>
      </p:sp>
      <p:sp>
        <p:nvSpPr>
          <p:cNvPr id="7" name="Shape 5"/>
          <p:cNvSpPr/>
          <p:nvPr/>
        </p:nvSpPr>
        <p:spPr>
          <a:xfrm>
            <a:off x="548640" y="2880360"/>
            <a:ext cx="3520440" cy="2926080"/>
          </a:xfrm>
          <a:prstGeom prst="roundRect">
            <a:avLst>
              <a:gd name="adj" fmla="val 3750"/>
            </a:avLst>
          </a:prstGeom>
          <a:solidFill>
            <a:srgbClr val="FFFFFF"/>
          </a:solidFill>
          <a:ln w="9525">
            <a:solidFill>
              <a:srgbClr val="D5DBE2"/>
            </a:solidFill>
            <a:prstDash val="solid"/>
          </a:ln>
        </p:spPr>
      </p:sp>
      <p:pic>
        <p:nvPicPr>
          <p:cNvPr id="8" name="Image 0" descr="preencoded.png">    </p:cNvPr>
          <p:cNvPicPr>
            <a:picLocks noChangeAspect="1"/>
          </p:cNvPicPr>
          <p:nvPr/>
        </p:nvPicPr>
        <p:blipFill>
          <a:blip r:embed="rId1"/>
          <a:stretch>
            <a:fillRect/>
          </a:stretch>
        </p:blipFill>
        <p:spPr>
          <a:xfrm>
            <a:off x="822960" y="3108960"/>
            <a:ext cx="384048" cy="384048"/>
          </a:xfrm>
          <a:prstGeom prst="rect">
            <a:avLst/>
          </a:prstGeom>
        </p:spPr>
      </p:pic>
      <p:sp>
        <p:nvSpPr>
          <p:cNvPr id="9" name="Text 6"/>
          <p:cNvSpPr txBox="1"/>
          <p:nvPr/>
        </p:nvSpPr>
        <p:spPr>
          <a:xfrm>
            <a:off x="822960" y="3611880"/>
            <a:ext cx="2971800" cy="640080"/>
          </a:xfrm>
          <a:prstGeom prst="rect">
            <a:avLst/>
          </a:prstGeom>
          <a:noFill/>
          <a:ln/>
        </p:spPr>
        <p:txBody>
          <a:bodyPr wrap="square" lIns="0" tIns="0" rIns="0" bIns="0" rtlCol="0" anchor="t"/>
          <a:lstStyle/>
          <a:p>
            <a:pPr algn="l" indent="0" marL="0">
              <a:lnSpc>
                <a:spcPct val="105000"/>
              </a:lnSpc>
              <a:buNone/>
            </a:pPr>
            <a:r>
              <a:rPr lang="en-US" sz="1700" b="1" dirty="0">
                <a:solidFill>
                  <a:srgbClr val="172029"/>
                </a:solidFill>
                <a:latin typeface="Calibri" pitchFamily="34" charset="0"/>
                <a:ea typeface="Calibri" pitchFamily="34" charset="-122"/>
                <a:cs typeface="Calibri" pitchFamily="34" charset="-120"/>
              </a:rPr>
              <a:t>Catalogs get simple</a:t>
            </a:r>
            <a:endParaRPr lang="en-US" sz="1700" dirty="0"/>
          </a:p>
        </p:txBody>
      </p:sp>
      <p:sp>
        <p:nvSpPr>
          <p:cNvPr id="10" name="Text 7"/>
          <p:cNvSpPr txBox="1"/>
          <p:nvPr/>
        </p:nvSpPr>
        <p:spPr>
          <a:xfrm>
            <a:off x="822960" y="4297680"/>
            <a:ext cx="2971800" cy="1371600"/>
          </a:xfrm>
          <a:prstGeom prst="rect">
            <a:avLst/>
          </a:prstGeom>
          <a:noFill/>
          <a:ln/>
        </p:spPr>
        <p:txBody>
          <a:bodyPr wrap="square" lIns="0" tIns="0" rIns="0" bIns="0" rtlCol="0" anchor="t"/>
          <a:lstStyle/>
          <a:p>
            <a:pPr algn="l" indent="0" marL="0">
              <a:lnSpc>
                <a:spcPct val="115000"/>
              </a:lnSpc>
              <a:buNone/>
            </a:pPr>
            <a:r>
              <a:rPr lang="en-US" sz="1250" dirty="0">
                <a:solidFill>
                  <a:srgbClr val="5C6B7A"/>
                </a:solidFill>
                <a:latin typeface="Calibri" pitchFamily="34" charset="0"/>
                <a:ea typeface="Calibri" pitchFamily="34" charset="-122"/>
                <a:cs typeface="Calibri" pitchFamily="34" charset="-120"/>
              </a:rPr>
              <a:t>Apache Polaris graduates to a top-level project (Feb 19). DuckLake 1.0 embeds the catalog in SQLite or Postgres (Apr 13). The "which catalog" blocker is gone.</a:t>
            </a:r>
            <a:endParaRPr lang="en-US" sz="1250" dirty="0"/>
          </a:p>
        </p:txBody>
      </p:sp>
      <p:sp>
        <p:nvSpPr>
          <p:cNvPr id="11" name="Shape 8"/>
          <p:cNvSpPr/>
          <p:nvPr/>
        </p:nvSpPr>
        <p:spPr>
          <a:xfrm>
            <a:off x="4654296" y="2414016"/>
            <a:ext cx="201168" cy="201168"/>
          </a:xfrm>
          <a:prstGeom prst="ellipse">
            <a:avLst/>
          </a:prstGeom>
          <a:solidFill>
            <a:srgbClr val="172029"/>
          </a:solidFill>
          <a:ln w="12700">
            <a:solidFill>
              <a:srgbClr val="172029"/>
            </a:solidFill>
            <a:prstDash val="solid"/>
          </a:ln>
        </p:spPr>
      </p:sp>
      <p:sp>
        <p:nvSpPr>
          <p:cNvPr id="12" name="Text 9"/>
          <p:cNvSpPr txBox="1"/>
          <p:nvPr/>
        </p:nvSpPr>
        <p:spPr>
          <a:xfrm>
            <a:off x="5120640" y="2331720"/>
            <a:ext cx="2560320" cy="320040"/>
          </a:xfrm>
          <a:prstGeom prst="rect">
            <a:avLst/>
          </a:prstGeom>
          <a:noFill/>
          <a:ln/>
        </p:spPr>
        <p:txBody>
          <a:bodyPr wrap="square" lIns="0" tIns="0" rIns="0" bIns="0" rtlCol="0" anchor="t"/>
          <a:lstStyle/>
          <a:p>
            <a:pPr algn="l" indent="0" marL="0">
              <a:lnSpc>
                <a:spcPct val="115000"/>
              </a:lnSpc>
              <a:buNone/>
            </a:pPr>
            <a:r>
              <a:rPr lang="en-US" sz="1300" b="1" dirty="0">
                <a:solidFill>
                  <a:srgbClr val="5C6B7A"/>
                </a:solidFill>
                <a:latin typeface="Calibri" pitchFamily="34" charset="0"/>
                <a:ea typeface="Calibri" pitchFamily="34" charset="-122"/>
                <a:cs typeface="Calibri" pitchFamily="34" charset="-120"/>
              </a:rPr>
              <a:t>May 29, 2026</a:t>
            </a:r>
            <a:endParaRPr lang="en-US" sz="1300" dirty="0"/>
          </a:p>
        </p:txBody>
      </p:sp>
      <p:sp>
        <p:nvSpPr>
          <p:cNvPr id="13" name="Shape 10"/>
          <p:cNvSpPr/>
          <p:nvPr/>
        </p:nvSpPr>
        <p:spPr>
          <a:xfrm>
            <a:off x="4297680" y="2880360"/>
            <a:ext cx="3520440" cy="2926080"/>
          </a:xfrm>
          <a:prstGeom prst="roundRect">
            <a:avLst>
              <a:gd name="adj" fmla="val 3750"/>
            </a:avLst>
          </a:prstGeom>
          <a:solidFill>
            <a:srgbClr val="FFFFFF"/>
          </a:solidFill>
          <a:ln w="9525">
            <a:solidFill>
              <a:srgbClr val="D5DBE2"/>
            </a:solidFill>
            <a:prstDash val="solid"/>
          </a:ln>
        </p:spPr>
      </p:sp>
      <p:pic>
        <p:nvPicPr>
          <p:cNvPr id="14" name="Image 1" descr="preencoded.png">    </p:cNvPr>
          <p:cNvPicPr>
            <a:picLocks noChangeAspect="1"/>
          </p:cNvPicPr>
          <p:nvPr/>
        </p:nvPicPr>
        <p:blipFill>
          <a:blip r:embed="rId2"/>
          <a:stretch>
            <a:fillRect/>
          </a:stretch>
        </p:blipFill>
        <p:spPr>
          <a:xfrm>
            <a:off x="4572000" y="3108960"/>
            <a:ext cx="384048" cy="384048"/>
          </a:xfrm>
          <a:prstGeom prst="rect">
            <a:avLst/>
          </a:prstGeom>
        </p:spPr>
      </p:pic>
      <p:sp>
        <p:nvSpPr>
          <p:cNvPr id="15" name="Text 11"/>
          <p:cNvSpPr txBox="1"/>
          <p:nvPr/>
        </p:nvSpPr>
        <p:spPr>
          <a:xfrm>
            <a:off x="4572000" y="3611880"/>
            <a:ext cx="2971800" cy="640080"/>
          </a:xfrm>
          <a:prstGeom prst="rect">
            <a:avLst/>
          </a:prstGeom>
          <a:noFill/>
          <a:ln/>
        </p:spPr>
        <p:txBody>
          <a:bodyPr wrap="square" lIns="0" tIns="0" rIns="0" bIns="0" rtlCol="0" anchor="t"/>
          <a:lstStyle/>
          <a:p>
            <a:pPr algn="l" indent="0" marL="0">
              <a:lnSpc>
                <a:spcPct val="105000"/>
              </a:lnSpc>
              <a:buNone/>
            </a:pPr>
            <a:r>
              <a:rPr lang="en-US" sz="1700" b="1" dirty="0">
                <a:solidFill>
                  <a:srgbClr val="172029"/>
                </a:solidFill>
                <a:latin typeface="Calibri" pitchFamily="34" charset="0"/>
                <a:ea typeface="Calibri" pitchFamily="34" charset="-122"/>
                <a:cs typeface="Calibri" pitchFamily="34" charset="-120"/>
              </a:rPr>
              <a:t>DuckDB 1.5.3 ships Iceberg write support</a:t>
            </a:r>
            <a:endParaRPr lang="en-US" sz="1700" dirty="0"/>
          </a:p>
        </p:txBody>
      </p:sp>
      <p:sp>
        <p:nvSpPr>
          <p:cNvPr id="16" name="Text 12"/>
          <p:cNvSpPr txBox="1"/>
          <p:nvPr/>
        </p:nvSpPr>
        <p:spPr>
          <a:xfrm>
            <a:off x="4572000" y="4297680"/>
            <a:ext cx="2971800" cy="1371600"/>
          </a:xfrm>
          <a:prstGeom prst="rect">
            <a:avLst/>
          </a:prstGeom>
          <a:noFill/>
          <a:ln/>
        </p:spPr>
        <p:txBody>
          <a:bodyPr wrap="square" lIns="0" tIns="0" rIns="0" bIns="0" rtlCol="0" anchor="t"/>
          <a:lstStyle/>
          <a:p>
            <a:pPr algn="l" indent="0" marL="0">
              <a:lnSpc>
                <a:spcPct val="115000"/>
              </a:lnSpc>
              <a:buNone/>
            </a:pPr>
            <a:r>
              <a:rPr lang="en-US" sz="1250" dirty="0">
                <a:solidFill>
                  <a:srgbClr val="5C6B7A"/>
                </a:solidFill>
                <a:latin typeface="Calibri" pitchFamily="34" charset="0"/>
                <a:ea typeface="Calibri" pitchFamily="34" charset="-122"/>
                <a:cs typeface="Calibri" pitchFamily="34" charset="-120"/>
              </a:rPr>
              <a:t>MERGE INTO, ALTER TABLE, partition transforms. Writing Iceberg no longer needs a Spark cluster, which 96% of Iceberg users were running just to write.</a:t>
            </a:r>
            <a:endParaRPr lang="en-US" sz="1250" dirty="0"/>
          </a:p>
        </p:txBody>
      </p:sp>
      <p:sp>
        <p:nvSpPr>
          <p:cNvPr id="17" name="Shape 13"/>
          <p:cNvSpPr/>
          <p:nvPr/>
        </p:nvSpPr>
        <p:spPr>
          <a:xfrm>
            <a:off x="8403336" y="2414016"/>
            <a:ext cx="201168" cy="201168"/>
          </a:xfrm>
          <a:prstGeom prst="ellipse">
            <a:avLst/>
          </a:prstGeom>
          <a:solidFill>
            <a:srgbClr val="172029"/>
          </a:solidFill>
          <a:ln w="12700">
            <a:solidFill>
              <a:srgbClr val="172029"/>
            </a:solidFill>
            <a:prstDash val="solid"/>
          </a:ln>
        </p:spPr>
      </p:sp>
      <p:sp>
        <p:nvSpPr>
          <p:cNvPr id="18" name="Text 14"/>
          <p:cNvSpPr txBox="1"/>
          <p:nvPr/>
        </p:nvSpPr>
        <p:spPr>
          <a:xfrm>
            <a:off x="8869680" y="2331720"/>
            <a:ext cx="2560320" cy="320040"/>
          </a:xfrm>
          <a:prstGeom prst="rect">
            <a:avLst/>
          </a:prstGeom>
          <a:noFill/>
          <a:ln/>
        </p:spPr>
        <p:txBody>
          <a:bodyPr wrap="square" lIns="0" tIns="0" rIns="0" bIns="0" rtlCol="0" anchor="t"/>
          <a:lstStyle/>
          <a:p>
            <a:pPr algn="l" indent="0" marL="0">
              <a:lnSpc>
                <a:spcPct val="115000"/>
              </a:lnSpc>
              <a:buNone/>
            </a:pPr>
            <a:r>
              <a:rPr lang="en-US" sz="1300" b="1" dirty="0">
                <a:solidFill>
                  <a:srgbClr val="5C6B7A"/>
                </a:solidFill>
                <a:latin typeface="Calibri" pitchFamily="34" charset="0"/>
                <a:ea typeface="Calibri" pitchFamily="34" charset="-122"/>
                <a:cs typeface="Calibri" pitchFamily="34" charset="-120"/>
              </a:rPr>
              <a:t>Aug 26, 2026</a:t>
            </a:r>
            <a:endParaRPr lang="en-US" sz="1300" dirty="0"/>
          </a:p>
        </p:txBody>
      </p:sp>
      <p:sp>
        <p:nvSpPr>
          <p:cNvPr id="19" name="Shape 15"/>
          <p:cNvSpPr/>
          <p:nvPr/>
        </p:nvSpPr>
        <p:spPr>
          <a:xfrm>
            <a:off x="8046720" y="2880360"/>
            <a:ext cx="3520440" cy="2926080"/>
          </a:xfrm>
          <a:prstGeom prst="roundRect">
            <a:avLst>
              <a:gd name="adj" fmla="val 3750"/>
            </a:avLst>
          </a:prstGeom>
          <a:solidFill>
            <a:srgbClr val="FFFFFF"/>
          </a:solidFill>
          <a:ln w="9525">
            <a:solidFill>
              <a:srgbClr val="D5DBE2"/>
            </a:solidFill>
            <a:prstDash val="solid"/>
          </a:ln>
        </p:spPr>
      </p:sp>
      <p:pic>
        <p:nvPicPr>
          <p:cNvPr id="20" name="Image 2" descr="preencoded.png">    </p:cNvPr>
          <p:cNvPicPr>
            <a:picLocks noChangeAspect="1"/>
          </p:cNvPicPr>
          <p:nvPr/>
        </p:nvPicPr>
        <p:blipFill>
          <a:blip r:embed="rId3"/>
          <a:stretch>
            <a:fillRect/>
          </a:stretch>
        </p:blipFill>
        <p:spPr>
          <a:xfrm>
            <a:off x="8321040" y="3108960"/>
            <a:ext cx="384048" cy="384048"/>
          </a:xfrm>
          <a:prstGeom prst="rect">
            <a:avLst/>
          </a:prstGeom>
        </p:spPr>
      </p:pic>
      <p:sp>
        <p:nvSpPr>
          <p:cNvPr id="21" name="Text 16"/>
          <p:cNvSpPr txBox="1"/>
          <p:nvPr/>
        </p:nvSpPr>
        <p:spPr>
          <a:xfrm>
            <a:off x="8321040" y="3611880"/>
            <a:ext cx="2971800" cy="640080"/>
          </a:xfrm>
          <a:prstGeom prst="rect">
            <a:avLst/>
          </a:prstGeom>
          <a:noFill/>
          <a:ln/>
        </p:spPr>
        <p:txBody>
          <a:bodyPr wrap="square" lIns="0" tIns="0" rIns="0" bIns="0" rtlCol="0" anchor="t"/>
          <a:lstStyle/>
          <a:p>
            <a:pPr algn="l" indent="0" marL="0">
              <a:lnSpc>
                <a:spcPct val="105000"/>
              </a:lnSpc>
              <a:buNone/>
            </a:pPr>
            <a:r>
              <a:rPr lang="en-US" sz="1700" b="1" dirty="0">
                <a:solidFill>
                  <a:srgbClr val="172029"/>
                </a:solidFill>
                <a:latin typeface="Calibri" pitchFamily="34" charset="0"/>
                <a:ea typeface="Calibri" pitchFamily="34" charset="-122"/>
                <a:cs typeface="Calibri" pitchFamily="34" charset="-120"/>
              </a:rPr>
              <a:t>AWS acquires the DuckLabs team</a:t>
            </a:r>
            <a:endParaRPr lang="en-US" sz="1700" dirty="0"/>
          </a:p>
        </p:txBody>
      </p:sp>
      <p:sp>
        <p:nvSpPr>
          <p:cNvPr id="22" name="Text 17"/>
          <p:cNvSpPr txBox="1"/>
          <p:nvPr/>
        </p:nvSpPr>
        <p:spPr>
          <a:xfrm>
            <a:off x="8321040" y="4297680"/>
            <a:ext cx="2971800" cy="1371600"/>
          </a:xfrm>
          <a:prstGeom prst="rect">
            <a:avLst/>
          </a:prstGeom>
          <a:noFill/>
          <a:ln/>
        </p:spPr>
        <p:txBody>
          <a:bodyPr wrap="square" lIns="0" tIns="0" rIns="0" bIns="0" rtlCol="0" anchor="t"/>
          <a:lstStyle/>
          <a:p>
            <a:pPr algn="l" indent="0" marL="0">
              <a:lnSpc>
                <a:spcPct val="115000"/>
              </a:lnSpc>
              <a:buNone/>
            </a:pPr>
            <a:r>
              <a:rPr lang="en-US" sz="1250" dirty="0">
                <a:solidFill>
                  <a:srgbClr val="5C6B7A"/>
                </a:solidFill>
                <a:latin typeface="Calibri" pitchFamily="34" charset="0"/>
                <a:ea typeface="Calibri" pitchFamily="34" charset="-122"/>
                <a:cs typeface="Calibri" pitchFamily="34" charset="-120"/>
              </a:rPr>
              <a:t>DuckDB is now credible enterprise infrastructure, with one million daily downloads. The project stays MIT under the DuckDB Foundation.</a:t>
            </a:r>
            <a:endParaRPr lang="en-US" sz="1250" dirty="0"/>
          </a:p>
        </p:txBody>
      </p:sp>
      <p:sp>
        <p:nvSpPr>
          <p:cNvPr id="23" name="Text 18"/>
          <p:cNvSpPr txBox="1"/>
          <p:nvPr/>
        </p:nvSpPr>
        <p:spPr>
          <a:xfrm>
            <a:off x="548640" y="5989320"/>
            <a:ext cx="11091672" cy="365760"/>
          </a:xfrm>
          <a:prstGeom prst="rect">
            <a:avLst/>
          </a:prstGeom>
          <a:noFill/>
          <a:ln/>
        </p:spPr>
        <p:txBody>
          <a:bodyPr wrap="square" lIns="0" tIns="0" rIns="0" bIns="0" rtlCol="0" anchor="t"/>
          <a:lstStyle/>
          <a:p>
            <a:pPr algn="l" indent="0" marL="0">
              <a:lnSpc>
                <a:spcPct val="115000"/>
              </a:lnSpc>
              <a:buNone/>
            </a:pPr>
            <a:r>
              <a:rPr lang="en-US" sz="1200" dirty="0">
                <a:solidFill>
                  <a:srgbClr val="5C6B7A"/>
                </a:solidFill>
                <a:latin typeface="Calibri" pitchFamily="34" charset="0"/>
                <a:ea typeface="Calibri" pitchFamily="34" charset="-122"/>
                <a:cs typeface="Calibri" pitchFamily="34" charset="-120"/>
              </a:rPr>
              <a:t>Plus dbt Core: Apache 2.0, no seat limits, required in 61% of data engineering job postings. The transformation layer is already standard.</a:t>
            </a:r>
            <a:endParaRPr lang="en-US" sz="1200" dirty="0"/>
          </a:p>
        </p:txBody>
      </p:sp>
      <p:sp>
        <p:nvSpPr>
          <p:cNvPr id="24" name="Text 19"/>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25" name="Text 20"/>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The computer on your desk is growing faster than your data.</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Why rent a warehouse when a laptop holds the whole dataset in memory? Lakelet turns that question into a per-query decision.</a:t>
            </a:r>
            <a:endParaRPr lang="en-US" sz="1600" dirty="0"/>
          </a:p>
        </p:txBody>
      </p:sp>
      <p:sp>
        <p:nvSpPr>
          <p:cNvPr id="4" name="Shape 2"/>
          <p:cNvSpPr/>
          <p:nvPr/>
        </p:nvSpPr>
        <p:spPr>
          <a:xfrm>
            <a:off x="548640" y="2148840"/>
            <a:ext cx="5852160" cy="3246120"/>
          </a:xfrm>
          <a:prstGeom prst="roundRect">
            <a:avLst>
              <a:gd name="adj" fmla="val 3380"/>
            </a:avLst>
          </a:prstGeom>
          <a:solidFill>
            <a:srgbClr val="FFFFFF"/>
          </a:solidFill>
          <a:ln w="9525">
            <a:solidFill>
              <a:srgbClr val="D5DBE2"/>
            </a:solidFill>
            <a:prstDash val="solid"/>
          </a:ln>
        </p:spPr>
      </p:sp>
      <p:sp>
        <p:nvSpPr>
          <p:cNvPr id="5" name="Text 3"/>
          <p:cNvSpPr txBox="1"/>
          <p:nvPr/>
        </p:nvSpPr>
        <p:spPr>
          <a:xfrm>
            <a:off x="822960" y="2286000"/>
            <a:ext cx="5303520" cy="274320"/>
          </a:xfrm>
          <a:prstGeom prst="rect">
            <a:avLst/>
          </a:prstGeom>
          <a:noFill/>
          <a:ln/>
        </p:spPr>
        <p:txBody>
          <a:bodyPr wrap="square" lIns="0" tIns="0" rIns="0" bIns="0" rtlCol="0" anchor="t"/>
          <a:lstStyle/>
          <a:p>
            <a:pPr algn="l" indent="0" marL="0">
              <a:lnSpc>
                <a:spcPct val="115000"/>
              </a:lnSpc>
              <a:buNone/>
            </a:pPr>
            <a:r>
              <a:rPr lang="en-US" sz="1200" b="1" dirty="0">
                <a:solidFill>
                  <a:srgbClr val="5C6B7A"/>
                </a:solidFill>
                <a:latin typeface="Calibri" pitchFamily="34" charset="0"/>
                <a:ea typeface="Calibri" pitchFamily="34" charset="-122"/>
                <a:cs typeface="Calibri" pitchFamily="34" charset="-120"/>
              </a:rPr>
              <a:t>Unified memory you can buy for a desk, GB</a:t>
            </a:r>
            <a:endParaRPr lang="en-US" sz="1200" dirty="0"/>
          </a:p>
        </p:txBody>
      </p:sp>
      <p:sp>
        <p:nvSpPr>
          <p:cNvPr id="6" name="Text 4"/>
          <p:cNvSpPr txBox="1"/>
          <p:nvPr/>
        </p:nvSpPr>
        <p:spPr>
          <a:xfrm>
            <a:off x="822960" y="2697480"/>
            <a:ext cx="2286000" cy="546354"/>
          </a:xfrm>
          <a:prstGeom prst="rect">
            <a:avLst/>
          </a:prstGeom>
          <a:noFill/>
          <a:ln/>
        </p:spPr>
        <p:txBody>
          <a:bodyPr wrap="square" lIns="0" tIns="0" rIns="0" bIns="0" rtlCol="0" anchor="ctr"/>
          <a:lstStyle/>
          <a:p>
            <a:pPr algn="l" indent="0" marL="0">
              <a:lnSpc>
                <a:spcPct val="115000"/>
              </a:lnSpc>
              <a:buNone/>
            </a:pPr>
            <a:r>
              <a:rPr lang="en-US" sz="1100" dirty="0">
                <a:solidFill>
                  <a:srgbClr val="172029"/>
                </a:solidFill>
                <a:latin typeface="Calibri" pitchFamily="34" charset="0"/>
                <a:ea typeface="Calibri" pitchFamily="34" charset="-122"/>
                <a:cs typeface="Calibri" pitchFamily="34" charset="-120"/>
              </a:rPr>
              <a:t>MacBook Pro M1 Max · 2021</a:t>
            </a:r>
            <a:endParaRPr lang="en-US" sz="1100" dirty="0"/>
          </a:p>
        </p:txBody>
      </p:sp>
      <p:sp>
        <p:nvSpPr>
          <p:cNvPr id="7" name="Shape 5"/>
          <p:cNvSpPr/>
          <p:nvPr/>
        </p:nvSpPr>
        <p:spPr>
          <a:xfrm>
            <a:off x="3108960" y="2806751"/>
            <a:ext cx="251460" cy="327812"/>
          </a:xfrm>
          <a:prstGeom prst="roundRect">
            <a:avLst>
              <a:gd name="adj" fmla="val 14545"/>
            </a:avLst>
          </a:prstGeom>
          <a:solidFill>
            <a:srgbClr val="172029"/>
          </a:solidFill>
          <a:ln w="12700">
            <a:solidFill>
              <a:srgbClr val="172029"/>
            </a:solidFill>
            <a:prstDash val="solid"/>
          </a:ln>
        </p:spPr>
      </p:sp>
      <p:sp>
        <p:nvSpPr>
          <p:cNvPr id="8" name="Text 6"/>
          <p:cNvSpPr txBox="1"/>
          <p:nvPr/>
        </p:nvSpPr>
        <p:spPr>
          <a:xfrm>
            <a:off x="3451860" y="2697480"/>
            <a:ext cx="1188720" cy="546354"/>
          </a:xfrm>
          <a:prstGeom prst="rect">
            <a:avLst/>
          </a:prstGeom>
          <a:noFill/>
          <a:ln/>
        </p:spPr>
        <p:txBody>
          <a:bodyPr wrap="square" lIns="0" tIns="0" rIns="0" bIns="0" rtlCol="0" anchor="ctr"/>
          <a:lstStyle/>
          <a:p>
            <a:pPr algn="l" indent="0" marL="0">
              <a:lnSpc>
                <a:spcPct val="115000"/>
              </a:lnSpc>
              <a:buNone/>
            </a:pPr>
            <a:r>
              <a:rPr lang="en-US" sz="1100" b="1" dirty="0">
                <a:solidFill>
                  <a:srgbClr val="172029"/>
                </a:solidFill>
                <a:latin typeface="Calibri" pitchFamily="34" charset="0"/>
                <a:ea typeface="Calibri" pitchFamily="34" charset="-122"/>
                <a:cs typeface="Calibri" pitchFamily="34" charset="-120"/>
              </a:rPr>
              <a:t>64 GB</a:t>
            </a:r>
            <a:endParaRPr lang="en-US" sz="1100" dirty="0"/>
          </a:p>
        </p:txBody>
      </p:sp>
      <p:sp>
        <p:nvSpPr>
          <p:cNvPr id="9" name="Text 7"/>
          <p:cNvSpPr txBox="1"/>
          <p:nvPr/>
        </p:nvSpPr>
        <p:spPr>
          <a:xfrm>
            <a:off x="822960" y="3353562"/>
            <a:ext cx="2286000" cy="546354"/>
          </a:xfrm>
          <a:prstGeom prst="rect">
            <a:avLst/>
          </a:prstGeom>
          <a:noFill/>
          <a:ln/>
        </p:spPr>
        <p:txBody>
          <a:bodyPr wrap="square" lIns="0" tIns="0" rIns="0" bIns="0" rtlCol="0" anchor="ctr"/>
          <a:lstStyle/>
          <a:p>
            <a:pPr algn="l" indent="0" marL="0">
              <a:lnSpc>
                <a:spcPct val="115000"/>
              </a:lnSpc>
              <a:buNone/>
            </a:pPr>
            <a:r>
              <a:rPr lang="en-US" sz="1100" dirty="0">
                <a:solidFill>
                  <a:srgbClr val="172029"/>
                </a:solidFill>
                <a:latin typeface="Calibri" pitchFamily="34" charset="0"/>
                <a:ea typeface="Calibri" pitchFamily="34" charset="-122"/>
                <a:cs typeface="Calibri" pitchFamily="34" charset="-120"/>
              </a:rPr>
              <a:t>MacBook Pro M5 Max · 2026</a:t>
            </a:r>
            <a:endParaRPr lang="en-US" sz="1100" dirty="0"/>
          </a:p>
        </p:txBody>
      </p:sp>
      <p:sp>
        <p:nvSpPr>
          <p:cNvPr id="10" name="Shape 8"/>
          <p:cNvSpPr/>
          <p:nvPr/>
        </p:nvSpPr>
        <p:spPr>
          <a:xfrm>
            <a:off x="3108960" y="3462833"/>
            <a:ext cx="502920" cy="327812"/>
          </a:xfrm>
          <a:prstGeom prst="roundRect">
            <a:avLst>
              <a:gd name="adj" fmla="val 11158"/>
            </a:avLst>
          </a:prstGeom>
          <a:solidFill>
            <a:srgbClr val="172029"/>
          </a:solidFill>
          <a:ln w="12700">
            <a:solidFill>
              <a:srgbClr val="172029"/>
            </a:solidFill>
            <a:prstDash val="solid"/>
          </a:ln>
        </p:spPr>
      </p:sp>
      <p:sp>
        <p:nvSpPr>
          <p:cNvPr id="11" name="Text 9"/>
          <p:cNvSpPr txBox="1"/>
          <p:nvPr/>
        </p:nvSpPr>
        <p:spPr>
          <a:xfrm>
            <a:off x="3703320" y="3353562"/>
            <a:ext cx="1188720" cy="546354"/>
          </a:xfrm>
          <a:prstGeom prst="rect">
            <a:avLst/>
          </a:prstGeom>
          <a:noFill/>
          <a:ln/>
        </p:spPr>
        <p:txBody>
          <a:bodyPr wrap="square" lIns="0" tIns="0" rIns="0" bIns="0" rtlCol="0" anchor="ctr"/>
          <a:lstStyle/>
          <a:p>
            <a:pPr algn="l" indent="0" marL="0">
              <a:lnSpc>
                <a:spcPct val="115000"/>
              </a:lnSpc>
              <a:buNone/>
            </a:pPr>
            <a:r>
              <a:rPr lang="en-US" sz="1100" b="1" dirty="0">
                <a:solidFill>
                  <a:srgbClr val="172029"/>
                </a:solidFill>
                <a:latin typeface="Calibri" pitchFamily="34" charset="0"/>
                <a:ea typeface="Calibri" pitchFamily="34" charset="-122"/>
                <a:cs typeface="Calibri" pitchFamily="34" charset="-120"/>
              </a:rPr>
              <a:t>128 GB</a:t>
            </a:r>
            <a:endParaRPr lang="en-US" sz="1100" dirty="0"/>
          </a:p>
        </p:txBody>
      </p:sp>
      <p:sp>
        <p:nvSpPr>
          <p:cNvPr id="12" name="Text 10"/>
          <p:cNvSpPr txBox="1"/>
          <p:nvPr/>
        </p:nvSpPr>
        <p:spPr>
          <a:xfrm>
            <a:off x="822960" y="4009644"/>
            <a:ext cx="2286000" cy="546354"/>
          </a:xfrm>
          <a:prstGeom prst="rect">
            <a:avLst/>
          </a:prstGeom>
          <a:noFill/>
          <a:ln/>
        </p:spPr>
        <p:txBody>
          <a:bodyPr wrap="square" lIns="0" tIns="0" rIns="0" bIns="0" rtlCol="0" anchor="ctr"/>
          <a:lstStyle/>
          <a:p>
            <a:pPr algn="l" indent="0" marL="0">
              <a:lnSpc>
                <a:spcPct val="115000"/>
              </a:lnSpc>
              <a:buNone/>
            </a:pPr>
            <a:r>
              <a:rPr lang="en-US" sz="1100" dirty="0">
                <a:solidFill>
                  <a:srgbClr val="172029"/>
                </a:solidFill>
                <a:latin typeface="Calibri" pitchFamily="34" charset="0"/>
                <a:ea typeface="Calibri" pitchFamily="34" charset="-122"/>
                <a:cs typeface="Calibri" pitchFamily="34" charset="-120"/>
              </a:rPr>
              <a:t>NVIDIA DGX Spark · 2025</a:t>
            </a:r>
            <a:endParaRPr lang="en-US" sz="1100" dirty="0"/>
          </a:p>
        </p:txBody>
      </p:sp>
      <p:sp>
        <p:nvSpPr>
          <p:cNvPr id="13" name="Shape 11"/>
          <p:cNvSpPr/>
          <p:nvPr/>
        </p:nvSpPr>
        <p:spPr>
          <a:xfrm>
            <a:off x="3108960" y="4118915"/>
            <a:ext cx="502920" cy="327812"/>
          </a:xfrm>
          <a:prstGeom prst="roundRect">
            <a:avLst>
              <a:gd name="adj" fmla="val 11158"/>
            </a:avLst>
          </a:prstGeom>
          <a:solidFill>
            <a:srgbClr val="172029"/>
          </a:solidFill>
          <a:ln w="12700">
            <a:solidFill>
              <a:srgbClr val="172029"/>
            </a:solidFill>
            <a:prstDash val="solid"/>
          </a:ln>
        </p:spPr>
      </p:sp>
      <p:sp>
        <p:nvSpPr>
          <p:cNvPr id="14" name="Text 12"/>
          <p:cNvSpPr txBox="1"/>
          <p:nvPr/>
        </p:nvSpPr>
        <p:spPr>
          <a:xfrm>
            <a:off x="3703320" y="4009644"/>
            <a:ext cx="1188720" cy="546354"/>
          </a:xfrm>
          <a:prstGeom prst="rect">
            <a:avLst/>
          </a:prstGeom>
          <a:noFill/>
          <a:ln/>
        </p:spPr>
        <p:txBody>
          <a:bodyPr wrap="square" lIns="0" tIns="0" rIns="0" bIns="0" rtlCol="0" anchor="ctr"/>
          <a:lstStyle/>
          <a:p>
            <a:pPr algn="l" indent="0" marL="0">
              <a:lnSpc>
                <a:spcPct val="115000"/>
              </a:lnSpc>
              <a:buNone/>
            </a:pPr>
            <a:r>
              <a:rPr lang="en-US" sz="1100" b="1" dirty="0">
                <a:solidFill>
                  <a:srgbClr val="172029"/>
                </a:solidFill>
                <a:latin typeface="Calibri" pitchFamily="34" charset="0"/>
                <a:ea typeface="Calibri" pitchFamily="34" charset="-122"/>
                <a:cs typeface="Calibri" pitchFamily="34" charset="-120"/>
              </a:rPr>
              <a:t>128 GB</a:t>
            </a:r>
            <a:endParaRPr lang="en-US" sz="1100" dirty="0"/>
          </a:p>
        </p:txBody>
      </p:sp>
      <p:sp>
        <p:nvSpPr>
          <p:cNvPr id="15" name="Text 13"/>
          <p:cNvSpPr txBox="1"/>
          <p:nvPr/>
        </p:nvSpPr>
        <p:spPr>
          <a:xfrm>
            <a:off x="822960" y="4665726"/>
            <a:ext cx="2286000" cy="546354"/>
          </a:xfrm>
          <a:prstGeom prst="rect">
            <a:avLst/>
          </a:prstGeom>
          <a:noFill/>
          <a:ln/>
        </p:spPr>
        <p:txBody>
          <a:bodyPr wrap="square" lIns="0" tIns="0" rIns="0" bIns="0" rtlCol="0" anchor="ctr"/>
          <a:lstStyle/>
          <a:p>
            <a:pPr algn="l" indent="0" marL="0">
              <a:lnSpc>
                <a:spcPct val="115000"/>
              </a:lnSpc>
              <a:buNone/>
            </a:pPr>
            <a:r>
              <a:rPr lang="en-US" sz="1100" dirty="0">
                <a:solidFill>
                  <a:srgbClr val="172029"/>
                </a:solidFill>
                <a:latin typeface="Calibri" pitchFamily="34" charset="0"/>
                <a:ea typeface="Calibri" pitchFamily="34" charset="-122"/>
                <a:cs typeface="Calibri" pitchFamily="34" charset="-120"/>
              </a:rPr>
              <a:t>Mac Studio M5 Ultra · 2026</a:t>
            </a:r>
            <a:endParaRPr lang="en-US" sz="1100" dirty="0"/>
          </a:p>
        </p:txBody>
      </p:sp>
      <p:sp>
        <p:nvSpPr>
          <p:cNvPr id="16" name="Shape 14"/>
          <p:cNvSpPr/>
          <p:nvPr/>
        </p:nvSpPr>
        <p:spPr>
          <a:xfrm>
            <a:off x="3108960" y="4774997"/>
            <a:ext cx="2011680" cy="327812"/>
          </a:xfrm>
          <a:prstGeom prst="roundRect">
            <a:avLst>
              <a:gd name="adj" fmla="val 11158"/>
            </a:avLst>
          </a:prstGeom>
          <a:solidFill>
            <a:srgbClr val="1F8A5B"/>
          </a:solidFill>
          <a:ln w="12700">
            <a:solidFill>
              <a:srgbClr val="1F8A5B"/>
            </a:solidFill>
            <a:prstDash val="solid"/>
          </a:ln>
        </p:spPr>
      </p:sp>
      <p:sp>
        <p:nvSpPr>
          <p:cNvPr id="17" name="Text 15"/>
          <p:cNvSpPr txBox="1"/>
          <p:nvPr/>
        </p:nvSpPr>
        <p:spPr>
          <a:xfrm>
            <a:off x="5212080" y="4665726"/>
            <a:ext cx="1188720" cy="546354"/>
          </a:xfrm>
          <a:prstGeom prst="rect">
            <a:avLst/>
          </a:prstGeom>
          <a:noFill/>
          <a:ln/>
        </p:spPr>
        <p:txBody>
          <a:bodyPr wrap="square" lIns="0" tIns="0" rIns="0" bIns="0" rtlCol="0" anchor="ctr"/>
          <a:lstStyle/>
          <a:p>
            <a:pPr algn="l" indent="0" marL="0">
              <a:lnSpc>
                <a:spcPct val="115000"/>
              </a:lnSpc>
              <a:buNone/>
            </a:pPr>
            <a:r>
              <a:rPr lang="en-US" sz="1100" b="1" dirty="0">
                <a:solidFill>
                  <a:srgbClr val="172029"/>
                </a:solidFill>
                <a:latin typeface="Calibri" pitchFamily="34" charset="0"/>
                <a:ea typeface="Calibri" pitchFamily="34" charset="-122"/>
                <a:cs typeface="Calibri" pitchFamily="34" charset="-120"/>
              </a:rPr>
              <a:t>512 GB</a:t>
            </a:r>
            <a:endParaRPr lang="en-US" sz="1100" dirty="0"/>
          </a:p>
        </p:txBody>
      </p:sp>
      <p:sp>
        <p:nvSpPr>
          <p:cNvPr id="18" name="Text 16"/>
          <p:cNvSpPr txBox="1"/>
          <p:nvPr/>
        </p:nvSpPr>
        <p:spPr>
          <a:xfrm>
            <a:off x="548640" y="5486400"/>
            <a:ext cx="5852160" cy="45720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Memory you can buy for a desk, in GB. A 38 GB dataset (the team on slide 2) fits in RAM on the second bar.</a:t>
            </a:r>
            <a:endParaRPr lang="en-US" sz="1050" dirty="0"/>
          </a:p>
        </p:txBody>
      </p:sp>
      <p:sp>
        <p:nvSpPr>
          <p:cNvPr id="19" name="Shape 17"/>
          <p:cNvSpPr/>
          <p:nvPr/>
        </p:nvSpPr>
        <p:spPr>
          <a:xfrm>
            <a:off x="6675120" y="2148840"/>
            <a:ext cx="4965192" cy="786384"/>
          </a:xfrm>
          <a:prstGeom prst="roundRect">
            <a:avLst>
              <a:gd name="adj" fmla="val 13953"/>
            </a:avLst>
          </a:prstGeom>
          <a:solidFill>
            <a:srgbClr val="FFFFFF"/>
          </a:solidFill>
          <a:ln w="9525">
            <a:solidFill>
              <a:srgbClr val="D5DBE2"/>
            </a:solidFill>
            <a:prstDash val="solid"/>
          </a:ln>
        </p:spPr>
      </p:sp>
      <p:sp>
        <p:nvSpPr>
          <p:cNvPr id="20" name="Text 18"/>
          <p:cNvSpPr txBox="1"/>
          <p:nvPr/>
        </p:nvSpPr>
        <p:spPr>
          <a:xfrm>
            <a:off x="6903720" y="2258568"/>
            <a:ext cx="1371600" cy="365760"/>
          </a:xfrm>
          <a:prstGeom prst="rect">
            <a:avLst/>
          </a:prstGeom>
          <a:noFill/>
          <a:ln/>
        </p:spPr>
        <p:txBody>
          <a:bodyPr wrap="square" lIns="0" tIns="0" rIns="0" bIns="0" rtlCol="0" anchor="t"/>
          <a:lstStyle/>
          <a:p>
            <a:pPr algn="l" indent="0" marL="0">
              <a:lnSpc>
                <a:spcPct val="115000"/>
              </a:lnSpc>
              <a:buNone/>
            </a:pPr>
            <a:r>
              <a:rPr lang="en-US" sz="1900" b="1" spc="-100" kern="0" dirty="0">
                <a:solidFill>
                  <a:srgbClr val="172029"/>
                </a:solidFill>
                <a:latin typeface="Calibri" pitchFamily="34" charset="0"/>
                <a:ea typeface="Calibri" pitchFamily="34" charset="-122"/>
                <a:cs typeface="Calibri" pitchFamily="34" charset="-120"/>
              </a:rPr>
              <a:t>614 GB/s</a:t>
            </a:r>
            <a:endParaRPr lang="en-US" sz="1900" dirty="0"/>
          </a:p>
        </p:txBody>
      </p:sp>
      <p:sp>
        <p:nvSpPr>
          <p:cNvPr id="21" name="Text 19"/>
          <p:cNvSpPr txBox="1"/>
          <p:nvPr/>
        </p:nvSpPr>
        <p:spPr>
          <a:xfrm>
            <a:off x="8321040" y="2258568"/>
            <a:ext cx="3200400" cy="603504"/>
          </a:xfrm>
          <a:prstGeom prst="rect">
            <a:avLst/>
          </a:prstGeom>
          <a:noFill/>
          <a:ln/>
        </p:spPr>
        <p:txBody>
          <a:bodyPr wrap="square" lIns="0" tIns="0" rIns="0" bIns="0" rtlCol="0" anchor="t"/>
          <a:lstStyle/>
          <a:p>
            <a:pPr algn="l" indent="0" marL="0">
              <a:lnSpc>
                <a:spcPct val="115000"/>
              </a:lnSpc>
              <a:buNone/>
            </a:pPr>
            <a:r>
              <a:rPr lang="en-US" sz="1000" dirty="0">
                <a:solidFill>
                  <a:srgbClr val="5C6B7A"/>
                </a:solidFill>
                <a:latin typeface="Calibri" pitchFamily="34" charset="0"/>
                <a:ea typeface="Calibri" pitchFamily="34" charset="-122"/>
                <a:cs typeface="Calibri" pitchFamily="34" charset="-120"/>
              </a:rPr>
              <a:t>memory bandwidth on M5 Max; 1.2 TB/s on M5 Ultra. DuckDB is bandwidth-bound, so this is the number that matters.</a:t>
            </a:r>
            <a:endParaRPr lang="en-US" sz="1000" dirty="0"/>
          </a:p>
        </p:txBody>
      </p:sp>
      <p:sp>
        <p:nvSpPr>
          <p:cNvPr id="22" name="Shape 20"/>
          <p:cNvSpPr/>
          <p:nvPr/>
        </p:nvSpPr>
        <p:spPr>
          <a:xfrm>
            <a:off x="6675120" y="3044952"/>
            <a:ext cx="4965192" cy="786384"/>
          </a:xfrm>
          <a:prstGeom prst="roundRect">
            <a:avLst>
              <a:gd name="adj" fmla="val 13953"/>
            </a:avLst>
          </a:prstGeom>
          <a:solidFill>
            <a:srgbClr val="FFFFFF"/>
          </a:solidFill>
          <a:ln w="9525">
            <a:solidFill>
              <a:srgbClr val="D5DBE2"/>
            </a:solidFill>
            <a:prstDash val="solid"/>
          </a:ln>
        </p:spPr>
      </p:sp>
      <p:sp>
        <p:nvSpPr>
          <p:cNvPr id="23" name="Text 21"/>
          <p:cNvSpPr txBox="1"/>
          <p:nvPr/>
        </p:nvSpPr>
        <p:spPr>
          <a:xfrm>
            <a:off x="6903720" y="3154680"/>
            <a:ext cx="1371600" cy="365760"/>
          </a:xfrm>
          <a:prstGeom prst="rect">
            <a:avLst/>
          </a:prstGeom>
          <a:noFill/>
          <a:ln/>
        </p:spPr>
        <p:txBody>
          <a:bodyPr wrap="square" lIns="0" tIns="0" rIns="0" bIns="0" rtlCol="0" anchor="t"/>
          <a:lstStyle/>
          <a:p>
            <a:pPr algn="l" indent="0" marL="0">
              <a:lnSpc>
                <a:spcPct val="115000"/>
              </a:lnSpc>
              <a:buNone/>
            </a:pPr>
            <a:r>
              <a:rPr lang="en-US" sz="1900" b="1" spc="-100" kern="0" dirty="0">
                <a:solidFill>
                  <a:srgbClr val="172029"/>
                </a:solidFill>
                <a:latin typeface="Calibri" pitchFamily="34" charset="0"/>
                <a:ea typeface="Calibri" pitchFamily="34" charset="-122"/>
                <a:cs typeface="Calibri" pitchFamily="34" charset="-120"/>
              </a:rPr>
              <a:t>$1,699</a:t>
            </a:r>
            <a:endParaRPr lang="en-US" sz="1900" dirty="0"/>
          </a:p>
        </p:txBody>
      </p:sp>
      <p:sp>
        <p:nvSpPr>
          <p:cNvPr id="24" name="Text 22"/>
          <p:cNvSpPr txBox="1"/>
          <p:nvPr/>
        </p:nvSpPr>
        <p:spPr>
          <a:xfrm>
            <a:off x="8321040" y="3154680"/>
            <a:ext cx="3200400" cy="603504"/>
          </a:xfrm>
          <a:prstGeom prst="rect">
            <a:avLst/>
          </a:prstGeom>
          <a:noFill/>
          <a:ln/>
        </p:spPr>
        <p:txBody>
          <a:bodyPr wrap="square" lIns="0" tIns="0" rIns="0" bIns="0" rtlCol="0" anchor="t"/>
          <a:lstStyle/>
          <a:p>
            <a:pPr algn="l" indent="0" marL="0">
              <a:lnSpc>
                <a:spcPct val="115000"/>
              </a:lnSpc>
              <a:buNone/>
            </a:pPr>
            <a:r>
              <a:rPr lang="en-US" sz="1000" dirty="0">
                <a:solidFill>
                  <a:srgbClr val="5C6B7A"/>
                </a:solidFill>
                <a:latin typeface="Calibri" pitchFamily="34" charset="0"/>
                <a:ea typeface="Calibri" pitchFamily="34" charset="-122"/>
                <a:cs typeface="Calibri" pitchFamily="34" charset="-120"/>
              </a:rPr>
              <a:t>Mac mini with M5 Pro and 64 GB. Less than half of one month of the warehouse bill on slide 2.</a:t>
            </a:r>
            <a:endParaRPr lang="en-US" sz="1000" dirty="0"/>
          </a:p>
        </p:txBody>
      </p:sp>
      <p:sp>
        <p:nvSpPr>
          <p:cNvPr id="25" name="Shape 23"/>
          <p:cNvSpPr/>
          <p:nvPr/>
        </p:nvSpPr>
        <p:spPr>
          <a:xfrm>
            <a:off x="6675120" y="3941064"/>
            <a:ext cx="4965192" cy="786384"/>
          </a:xfrm>
          <a:prstGeom prst="roundRect">
            <a:avLst>
              <a:gd name="adj" fmla="val 13953"/>
            </a:avLst>
          </a:prstGeom>
          <a:solidFill>
            <a:srgbClr val="FFFFFF"/>
          </a:solidFill>
          <a:ln w="9525">
            <a:solidFill>
              <a:srgbClr val="D5DBE2"/>
            </a:solidFill>
            <a:prstDash val="solid"/>
          </a:ln>
        </p:spPr>
      </p:sp>
      <p:sp>
        <p:nvSpPr>
          <p:cNvPr id="26" name="Text 24"/>
          <p:cNvSpPr txBox="1"/>
          <p:nvPr/>
        </p:nvSpPr>
        <p:spPr>
          <a:xfrm>
            <a:off x="6903720" y="4050792"/>
            <a:ext cx="1371600" cy="365760"/>
          </a:xfrm>
          <a:prstGeom prst="rect">
            <a:avLst/>
          </a:prstGeom>
          <a:noFill/>
          <a:ln/>
        </p:spPr>
        <p:txBody>
          <a:bodyPr wrap="square" lIns="0" tIns="0" rIns="0" bIns="0" rtlCol="0" anchor="t"/>
          <a:lstStyle/>
          <a:p>
            <a:pPr algn="l" indent="0" marL="0">
              <a:lnSpc>
                <a:spcPct val="115000"/>
              </a:lnSpc>
              <a:buNone/>
            </a:pPr>
            <a:r>
              <a:rPr lang="en-US" sz="1900" b="1" spc="-100" kern="0" dirty="0">
                <a:solidFill>
                  <a:srgbClr val="172029"/>
                </a:solidFill>
                <a:latin typeface="Calibri" pitchFamily="34" charset="0"/>
                <a:ea typeface="Calibri" pitchFamily="34" charset="-122"/>
                <a:cs typeface="Calibri" pitchFamily="34" charset="-120"/>
              </a:rPr>
              <a:t>$4,699</a:t>
            </a:r>
            <a:endParaRPr lang="en-US" sz="1900" dirty="0"/>
          </a:p>
        </p:txBody>
      </p:sp>
      <p:sp>
        <p:nvSpPr>
          <p:cNvPr id="27" name="Text 25"/>
          <p:cNvSpPr txBox="1"/>
          <p:nvPr/>
        </p:nvSpPr>
        <p:spPr>
          <a:xfrm>
            <a:off x="8321040" y="4050792"/>
            <a:ext cx="3200400" cy="603504"/>
          </a:xfrm>
          <a:prstGeom prst="rect">
            <a:avLst/>
          </a:prstGeom>
          <a:noFill/>
          <a:ln/>
        </p:spPr>
        <p:txBody>
          <a:bodyPr wrap="square" lIns="0" tIns="0" rIns="0" bIns="0" rtlCol="0" anchor="t"/>
          <a:lstStyle/>
          <a:p>
            <a:pPr algn="l" indent="0" marL="0">
              <a:lnSpc>
                <a:spcPct val="115000"/>
              </a:lnSpc>
              <a:buNone/>
            </a:pPr>
            <a:r>
              <a:rPr lang="en-US" sz="1000" dirty="0">
                <a:solidFill>
                  <a:srgbClr val="5C6B7A"/>
                </a:solidFill>
                <a:latin typeface="Calibri" pitchFamily="34" charset="0"/>
                <a:ea typeface="Calibri" pitchFamily="34" charset="-122"/>
                <a:cs typeface="Calibri" pitchFamily="34" charset="-120"/>
              </a:rPr>
              <a:t>DGX Spark: 128 GB unified memory and a petaflop of AI compute in a 1.2 kg box. Local is no longer the small option.</a:t>
            </a:r>
            <a:endParaRPr lang="en-US" sz="1000" dirty="0"/>
          </a:p>
        </p:txBody>
      </p:sp>
      <p:sp>
        <p:nvSpPr>
          <p:cNvPr id="28" name="Shape 26"/>
          <p:cNvSpPr/>
          <p:nvPr/>
        </p:nvSpPr>
        <p:spPr>
          <a:xfrm>
            <a:off x="6675120" y="4837176"/>
            <a:ext cx="4965192" cy="786384"/>
          </a:xfrm>
          <a:prstGeom prst="roundRect">
            <a:avLst>
              <a:gd name="adj" fmla="val 13953"/>
            </a:avLst>
          </a:prstGeom>
          <a:solidFill>
            <a:srgbClr val="FFFFFF"/>
          </a:solidFill>
          <a:ln w="9525">
            <a:solidFill>
              <a:srgbClr val="D5DBE2"/>
            </a:solidFill>
            <a:prstDash val="solid"/>
          </a:ln>
        </p:spPr>
      </p:sp>
      <p:sp>
        <p:nvSpPr>
          <p:cNvPr id="29" name="Text 27"/>
          <p:cNvSpPr txBox="1"/>
          <p:nvPr/>
        </p:nvSpPr>
        <p:spPr>
          <a:xfrm>
            <a:off x="6903720" y="4946904"/>
            <a:ext cx="1371600" cy="365760"/>
          </a:xfrm>
          <a:prstGeom prst="rect">
            <a:avLst/>
          </a:prstGeom>
          <a:noFill/>
          <a:ln/>
        </p:spPr>
        <p:txBody>
          <a:bodyPr wrap="square" lIns="0" tIns="0" rIns="0" bIns="0" rtlCol="0" anchor="t"/>
          <a:lstStyle/>
          <a:p>
            <a:pPr algn="l" indent="0" marL="0">
              <a:lnSpc>
                <a:spcPct val="115000"/>
              </a:lnSpc>
              <a:buNone/>
            </a:pPr>
            <a:r>
              <a:rPr lang="en-US" sz="1900" b="1" spc="-100" kern="0" dirty="0">
                <a:solidFill>
                  <a:srgbClr val="172029"/>
                </a:solidFill>
                <a:latin typeface="Calibri" pitchFamily="34" charset="0"/>
                <a:ea typeface="Calibri" pitchFamily="34" charset="-122"/>
                <a:cs typeface="Calibri" pitchFamily="34" charset="-120"/>
              </a:rPr>
              <a:t>10–100 GB</a:t>
            </a:r>
            <a:endParaRPr lang="en-US" sz="1900" dirty="0"/>
          </a:p>
        </p:txBody>
      </p:sp>
      <p:sp>
        <p:nvSpPr>
          <p:cNvPr id="30" name="Text 28"/>
          <p:cNvSpPr txBox="1"/>
          <p:nvPr/>
        </p:nvSpPr>
        <p:spPr>
          <a:xfrm>
            <a:off x="8321040" y="4946904"/>
            <a:ext cx="3200400" cy="603504"/>
          </a:xfrm>
          <a:prstGeom prst="rect">
            <a:avLst/>
          </a:prstGeom>
          <a:noFill/>
          <a:ln/>
        </p:spPr>
        <p:txBody>
          <a:bodyPr wrap="square" lIns="0" tIns="0" rIns="0" bIns="0" rtlCol="0" anchor="t"/>
          <a:lstStyle/>
          <a:p>
            <a:pPr algn="l" indent="0" marL="0">
              <a:lnSpc>
                <a:spcPct val="115000"/>
              </a:lnSpc>
              <a:buNone/>
            </a:pPr>
            <a:r>
              <a:rPr lang="en-US" sz="1000" dirty="0">
                <a:solidFill>
                  <a:srgbClr val="5C6B7A"/>
                </a:solidFill>
                <a:latin typeface="Calibri" pitchFamily="34" charset="0"/>
                <a:ea typeface="Calibri" pitchFamily="34" charset="-122"/>
                <a:cs typeface="Calibri" pitchFamily="34" charset="-120"/>
              </a:rPr>
              <a:t>the range where a laptop already beats an X-Small warehouse on latency, per the DataExpert analysis. Most teams under a terabyte live here.</a:t>
            </a:r>
            <a:endParaRPr lang="en-US" sz="1000" dirty="0"/>
          </a:p>
        </p:txBody>
      </p:sp>
      <p:sp>
        <p:nvSpPr>
          <p:cNvPr id="31" name="Text 29"/>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32" name="Text 30"/>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A $15B market that prices the small team like a large one.</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Top-down from analyst reports; bottom-up from what small teams actually pay. Both land in the same place. All figures rounded; estimates marked.</a:t>
            </a:r>
            <a:endParaRPr lang="en-US" sz="1600" dirty="0"/>
          </a:p>
        </p:txBody>
      </p:sp>
      <p:sp>
        <p:nvSpPr>
          <p:cNvPr id="4" name="Shape 2"/>
          <p:cNvSpPr/>
          <p:nvPr/>
        </p:nvSpPr>
        <p:spPr>
          <a:xfrm>
            <a:off x="548640" y="2148840"/>
            <a:ext cx="5852160" cy="1024128"/>
          </a:xfrm>
          <a:prstGeom prst="roundRect">
            <a:avLst>
              <a:gd name="adj" fmla="val 10714"/>
            </a:avLst>
          </a:prstGeom>
          <a:solidFill>
            <a:srgbClr val="FFFFFF"/>
          </a:solidFill>
          <a:ln w="9525">
            <a:solidFill>
              <a:srgbClr val="D5DBE2"/>
            </a:solidFill>
            <a:prstDash val="solid"/>
          </a:ln>
        </p:spPr>
      </p:sp>
      <p:sp>
        <p:nvSpPr>
          <p:cNvPr id="5" name="Text 3"/>
          <p:cNvSpPr txBox="1"/>
          <p:nvPr/>
        </p:nvSpPr>
        <p:spPr>
          <a:xfrm>
            <a:off x="822960" y="2286000"/>
            <a:ext cx="822960" cy="365760"/>
          </a:xfrm>
          <a:prstGeom prst="rect">
            <a:avLst/>
          </a:prstGeom>
          <a:noFill/>
          <a:ln/>
        </p:spPr>
        <p:txBody>
          <a:bodyPr wrap="square" lIns="0" tIns="0" rIns="0" bIns="0" rtlCol="0" anchor="t"/>
          <a:lstStyle/>
          <a:p>
            <a:pPr algn="l" indent="0" marL="0">
              <a:lnSpc>
                <a:spcPct val="115000"/>
              </a:lnSpc>
              <a:buNone/>
            </a:pPr>
            <a:r>
              <a:rPr lang="en-US" sz="1300" b="1" dirty="0">
                <a:solidFill>
                  <a:srgbClr val="5C6B7A"/>
                </a:solidFill>
                <a:latin typeface="Calibri" pitchFamily="34" charset="0"/>
                <a:ea typeface="Calibri" pitchFamily="34" charset="-122"/>
                <a:cs typeface="Calibri" pitchFamily="34" charset="-120"/>
              </a:rPr>
              <a:t>TAM</a:t>
            </a:r>
            <a:endParaRPr lang="en-US" sz="1300" dirty="0"/>
          </a:p>
        </p:txBody>
      </p:sp>
      <p:sp>
        <p:nvSpPr>
          <p:cNvPr id="6" name="Text 4"/>
          <p:cNvSpPr txBox="1"/>
          <p:nvPr/>
        </p:nvSpPr>
        <p:spPr>
          <a:xfrm>
            <a:off x="1554480" y="2221992"/>
            <a:ext cx="2011680" cy="457200"/>
          </a:xfrm>
          <a:prstGeom prst="rect">
            <a:avLst/>
          </a:prstGeom>
          <a:noFill/>
          <a:ln/>
        </p:spPr>
        <p:txBody>
          <a:bodyPr wrap="square" lIns="0" tIns="0" rIns="0" bIns="0" rtlCol="0" anchor="t"/>
          <a:lstStyle/>
          <a:p>
            <a:pPr algn="l" indent="0" marL="0">
              <a:lnSpc>
                <a:spcPct val="115000"/>
              </a:lnSpc>
              <a:buNone/>
            </a:pPr>
            <a:r>
              <a:rPr lang="en-US" sz="2200" b="1" spc="-100" kern="0" dirty="0">
                <a:solidFill>
                  <a:srgbClr val="172029"/>
                </a:solidFill>
                <a:latin typeface="Calibri" pitchFamily="34" charset="0"/>
                <a:ea typeface="Calibri" pitchFamily="34" charset="-122"/>
                <a:cs typeface="Calibri" pitchFamily="34" charset="-120"/>
              </a:rPr>
              <a:t>$15B</a:t>
            </a:r>
            <a:endParaRPr lang="en-US" sz="2200" dirty="0"/>
          </a:p>
        </p:txBody>
      </p:sp>
      <p:sp>
        <p:nvSpPr>
          <p:cNvPr id="7" name="Text 5"/>
          <p:cNvSpPr txBox="1"/>
          <p:nvPr/>
        </p:nvSpPr>
        <p:spPr>
          <a:xfrm>
            <a:off x="822960" y="2651760"/>
            <a:ext cx="5303520" cy="50292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Cloud data warehouse spend, 2026. Three analyst estimates cluster at $14.5–16.5B, growing 21–27% a year to $32–49B by 2030–31.</a:t>
            </a:r>
            <a:endParaRPr lang="en-US" sz="950" dirty="0"/>
          </a:p>
        </p:txBody>
      </p:sp>
      <p:sp>
        <p:nvSpPr>
          <p:cNvPr id="8" name="Shape 6"/>
          <p:cNvSpPr/>
          <p:nvPr/>
        </p:nvSpPr>
        <p:spPr>
          <a:xfrm>
            <a:off x="548640" y="3319272"/>
            <a:ext cx="5029200" cy="1024128"/>
          </a:xfrm>
          <a:prstGeom prst="roundRect">
            <a:avLst>
              <a:gd name="adj" fmla="val 10714"/>
            </a:avLst>
          </a:prstGeom>
          <a:solidFill>
            <a:srgbClr val="FFFFFF"/>
          </a:solidFill>
          <a:ln w="9525">
            <a:solidFill>
              <a:srgbClr val="D5DBE2"/>
            </a:solidFill>
            <a:prstDash val="solid"/>
          </a:ln>
        </p:spPr>
      </p:sp>
      <p:sp>
        <p:nvSpPr>
          <p:cNvPr id="9" name="Text 7"/>
          <p:cNvSpPr txBox="1"/>
          <p:nvPr/>
        </p:nvSpPr>
        <p:spPr>
          <a:xfrm>
            <a:off x="822960" y="3456432"/>
            <a:ext cx="822960" cy="365760"/>
          </a:xfrm>
          <a:prstGeom prst="rect">
            <a:avLst/>
          </a:prstGeom>
          <a:noFill/>
          <a:ln/>
        </p:spPr>
        <p:txBody>
          <a:bodyPr wrap="square" lIns="0" tIns="0" rIns="0" bIns="0" rtlCol="0" anchor="t"/>
          <a:lstStyle/>
          <a:p>
            <a:pPr algn="l" indent="0" marL="0">
              <a:lnSpc>
                <a:spcPct val="115000"/>
              </a:lnSpc>
              <a:buNone/>
            </a:pPr>
            <a:r>
              <a:rPr lang="en-US" sz="1300" b="1" dirty="0">
                <a:solidFill>
                  <a:srgbClr val="5C6B7A"/>
                </a:solidFill>
                <a:latin typeface="Calibri" pitchFamily="34" charset="0"/>
                <a:ea typeface="Calibri" pitchFamily="34" charset="-122"/>
                <a:cs typeface="Calibri" pitchFamily="34" charset="-120"/>
              </a:rPr>
              <a:t>SAM</a:t>
            </a:r>
            <a:endParaRPr lang="en-US" sz="1300" dirty="0"/>
          </a:p>
        </p:txBody>
      </p:sp>
      <p:sp>
        <p:nvSpPr>
          <p:cNvPr id="10" name="Text 8"/>
          <p:cNvSpPr txBox="1"/>
          <p:nvPr/>
        </p:nvSpPr>
        <p:spPr>
          <a:xfrm>
            <a:off x="1554480" y="3392424"/>
            <a:ext cx="2011680" cy="457200"/>
          </a:xfrm>
          <a:prstGeom prst="rect">
            <a:avLst/>
          </a:prstGeom>
          <a:noFill/>
          <a:ln/>
        </p:spPr>
        <p:txBody>
          <a:bodyPr wrap="square" lIns="0" tIns="0" rIns="0" bIns="0" rtlCol="0" anchor="t"/>
          <a:lstStyle/>
          <a:p>
            <a:pPr algn="l" indent="0" marL="0">
              <a:lnSpc>
                <a:spcPct val="115000"/>
              </a:lnSpc>
              <a:buNone/>
            </a:pPr>
            <a:r>
              <a:rPr lang="en-US" sz="2200" b="1" spc="-100" kern="0" dirty="0">
                <a:solidFill>
                  <a:srgbClr val="172029"/>
                </a:solidFill>
                <a:latin typeface="Calibri" pitchFamily="34" charset="0"/>
                <a:ea typeface="Calibri" pitchFamily="34" charset="-122"/>
                <a:cs typeface="Calibri" pitchFamily="34" charset="-120"/>
              </a:rPr>
              <a:t>~$3B</a:t>
            </a:r>
            <a:endParaRPr lang="en-US" sz="2200" dirty="0"/>
          </a:p>
        </p:txBody>
      </p:sp>
      <p:sp>
        <p:nvSpPr>
          <p:cNvPr id="11" name="Text 9"/>
          <p:cNvSpPr txBox="1"/>
          <p:nvPr/>
        </p:nvSpPr>
        <p:spPr>
          <a:xfrm>
            <a:off x="822960" y="3822192"/>
            <a:ext cx="4480560" cy="50292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Small and mid-size teams (39% of the market) on workloads under a terabyte (est. half of their spend). Bottom-up: ~100K small data teams × $500–5K/month ⇒ $0.6–6B.</a:t>
            </a:r>
            <a:endParaRPr lang="en-US" sz="950" dirty="0"/>
          </a:p>
        </p:txBody>
      </p:sp>
      <p:sp>
        <p:nvSpPr>
          <p:cNvPr id="12" name="Shape 10"/>
          <p:cNvSpPr/>
          <p:nvPr/>
        </p:nvSpPr>
        <p:spPr>
          <a:xfrm>
            <a:off x="548640" y="4489704"/>
            <a:ext cx="4206240" cy="1024128"/>
          </a:xfrm>
          <a:prstGeom prst="roundRect">
            <a:avLst>
              <a:gd name="adj" fmla="val 10714"/>
            </a:avLst>
          </a:prstGeom>
          <a:solidFill>
            <a:srgbClr val="FFFFFF"/>
          </a:solidFill>
          <a:ln w="9525">
            <a:solidFill>
              <a:srgbClr val="D5DBE2"/>
            </a:solidFill>
            <a:prstDash val="solid"/>
          </a:ln>
        </p:spPr>
      </p:sp>
      <p:sp>
        <p:nvSpPr>
          <p:cNvPr id="13" name="Text 11"/>
          <p:cNvSpPr txBox="1"/>
          <p:nvPr/>
        </p:nvSpPr>
        <p:spPr>
          <a:xfrm>
            <a:off x="822960" y="4626864"/>
            <a:ext cx="822960" cy="365760"/>
          </a:xfrm>
          <a:prstGeom prst="rect">
            <a:avLst/>
          </a:prstGeom>
          <a:noFill/>
          <a:ln/>
        </p:spPr>
        <p:txBody>
          <a:bodyPr wrap="square" lIns="0" tIns="0" rIns="0" bIns="0" rtlCol="0" anchor="t"/>
          <a:lstStyle/>
          <a:p>
            <a:pPr algn="l" indent="0" marL="0">
              <a:lnSpc>
                <a:spcPct val="115000"/>
              </a:lnSpc>
              <a:buNone/>
            </a:pPr>
            <a:r>
              <a:rPr lang="en-US" sz="1300" b="1" dirty="0">
                <a:solidFill>
                  <a:srgbClr val="5C6B7A"/>
                </a:solidFill>
                <a:latin typeface="Calibri" pitchFamily="34" charset="0"/>
                <a:ea typeface="Calibri" pitchFamily="34" charset="-122"/>
                <a:cs typeface="Calibri" pitchFamily="34" charset="-120"/>
              </a:rPr>
              <a:t>SOM</a:t>
            </a:r>
            <a:endParaRPr lang="en-US" sz="1300" dirty="0"/>
          </a:p>
        </p:txBody>
      </p:sp>
      <p:sp>
        <p:nvSpPr>
          <p:cNvPr id="14" name="Text 12"/>
          <p:cNvSpPr txBox="1"/>
          <p:nvPr/>
        </p:nvSpPr>
        <p:spPr>
          <a:xfrm>
            <a:off x="1554480" y="4562856"/>
            <a:ext cx="2011680" cy="457200"/>
          </a:xfrm>
          <a:prstGeom prst="rect">
            <a:avLst/>
          </a:prstGeom>
          <a:noFill/>
          <a:ln/>
        </p:spPr>
        <p:txBody>
          <a:bodyPr wrap="square" lIns="0" tIns="0" rIns="0" bIns="0" rtlCol="0" anchor="t"/>
          <a:lstStyle/>
          <a:p>
            <a:pPr algn="l" indent="0" marL="0">
              <a:lnSpc>
                <a:spcPct val="115000"/>
              </a:lnSpc>
              <a:buNone/>
            </a:pPr>
            <a:r>
              <a:rPr lang="en-US" sz="2200" b="1" spc="-100" kern="0" dirty="0">
                <a:solidFill>
                  <a:srgbClr val="172029"/>
                </a:solidFill>
                <a:latin typeface="Calibri" pitchFamily="34" charset="0"/>
                <a:ea typeface="Calibri" pitchFamily="34" charset="-122"/>
                <a:cs typeface="Calibri" pitchFamily="34" charset="-120"/>
              </a:rPr>
              <a:t>$1.35M → $7M</a:t>
            </a:r>
            <a:endParaRPr lang="en-US" sz="2200" dirty="0"/>
          </a:p>
        </p:txBody>
      </p:sp>
      <p:sp>
        <p:nvSpPr>
          <p:cNvPr id="15" name="Text 13"/>
          <p:cNvSpPr txBox="1"/>
          <p:nvPr/>
        </p:nvSpPr>
        <p:spPr>
          <a:xfrm>
            <a:off x="822960" y="4992624"/>
            <a:ext cx="3657600" cy="50292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Base case 2029 ARR (750 paying teams) to bull case. Under 0.3% of SAM; the plan does not need share to work, it needs the funnel to work.</a:t>
            </a:r>
            <a:endParaRPr lang="en-US" sz="950" dirty="0"/>
          </a:p>
        </p:txBody>
      </p:sp>
      <p:sp>
        <p:nvSpPr>
          <p:cNvPr id="16" name="Shape 14"/>
          <p:cNvSpPr/>
          <p:nvPr/>
        </p:nvSpPr>
        <p:spPr>
          <a:xfrm>
            <a:off x="6675120" y="2148840"/>
            <a:ext cx="4965192" cy="3520440"/>
          </a:xfrm>
          <a:prstGeom prst="roundRect">
            <a:avLst>
              <a:gd name="adj" fmla="val 3117"/>
            </a:avLst>
          </a:prstGeom>
          <a:solidFill>
            <a:srgbClr val="FFFFFF"/>
          </a:solidFill>
          <a:ln w="9525">
            <a:solidFill>
              <a:srgbClr val="D5DBE2"/>
            </a:solidFill>
            <a:prstDash val="solid"/>
          </a:ln>
        </p:spPr>
      </p:sp>
      <p:sp>
        <p:nvSpPr>
          <p:cNvPr id="17" name="Text 15"/>
          <p:cNvSpPr txBox="1"/>
          <p:nvPr/>
        </p:nvSpPr>
        <p:spPr>
          <a:xfrm>
            <a:off x="6903720" y="2286000"/>
            <a:ext cx="4572000" cy="274320"/>
          </a:xfrm>
          <a:prstGeom prst="rect">
            <a:avLst/>
          </a:prstGeom>
          <a:noFill/>
          <a:ln/>
        </p:spPr>
        <p:txBody>
          <a:bodyPr wrap="square" lIns="0" tIns="0" rIns="0" bIns="0" rtlCol="0" anchor="t"/>
          <a:lstStyle/>
          <a:p>
            <a:pPr algn="l" indent="0" marL="0">
              <a:lnSpc>
                <a:spcPct val="115000"/>
              </a:lnSpc>
              <a:buNone/>
            </a:pPr>
            <a:r>
              <a:rPr lang="en-US" sz="1200" b="1" dirty="0">
                <a:solidFill>
                  <a:srgbClr val="5C6B7A"/>
                </a:solidFill>
                <a:latin typeface="Calibri" pitchFamily="34" charset="0"/>
                <a:ea typeface="Calibri" pitchFamily="34" charset="-122"/>
                <a:cs typeface="Calibri" pitchFamily="34" charset="-120"/>
              </a:rPr>
              <a:t>Who has the money today</a:t>
            </a:r>
            <a:endParaRPr lang="en-US" sz="1200" dirty="0"/>
          </a:p>
        </p:txBody>
      </p:sp>
      <p:sp>
        <p:nvSpPr>
          <p:cNvPr id="18" name="Text 16"/>
          <p:cNvSpPr txBox="1"/>
          <p:nvPr/>
        </p:nvSpPr>
        <p:spPr>
          <a:xfrm>
            <a:off x="6903720" y="2606040"/>
            <a:ext cx="4480560" cy="274320"/>
          </a:xfrm>
          <a:prstGeom prst="rect">
            <a:avLst/>
          </a:prstGeom>
          <a:noFill/>
          <a:ln/>
        </p:spPr>
        <p:txBody>
          <a:bodyPr wrap="square" lIns="0" tIns="0" rIns="0" bIns="0" rtlCol="0" anchor="t"/>
          <a:lstStyle/>
          <a:p>
            <a:pPr algn="l" indent="0" marL="0">
              <a:lnSpc>
                <a:spcPct val="115000"/>
              </a:lnSpc>
              <a:buNone/>
            </a:pPr>
            <a:r>
              <a:rPr lang="en-US" sz="1300" b="1" dirty="0">
                <a:solidFill>
                  <a:srgbClr val="172029"/>
                </a:solidFill>
                <a:latin typeface="Calibri" pitchFamily="34" charset="0"/>
                <a:ea typeface="Calibri" pitchFamily="34" charset="-122"/>
                <a:cs typeface="Calibri" pitchFamily="34" charset="-120"/>
              </a:rPr>
              <a:t>Snowflake</a:t>
            </a:r>
            <a:endParaRPr lang="en-US" sz="1300" dirty="0"/>
          </a:p>
        </p:txBody>
      </p:sp>
      <p:sp>
        <p:nvSpPr>
          <p:cNvPr id="19" name="Text 17"/>
          <p:cNvSpPr txBox="1"/>
          <p:nvPr/>
        </p:nvSpPr>
        <p:spPr>
          <a:xfrm>
            <a:off x="6903720" y="2880360"/>
            <a:ext cx="4480560" cy="685800"/>
          </a:xfrm>
          <a:prstGeom prst="rect">
            <a:avLst/>
          </a:prstGeom>
          <a:noFill/>
          <a:ln/>
        </p:spPr>
        <p:txBody>
          <a:bodyPr wrap="square" lIns="0" tIns="0" rIns="0" bIns="0" rtlCol="0" anchor="t"/>
          <a:lstStyle/>
          <a:p>
            <a:pPr algn="l" indent="0" marL="0">
              <a:lnSpc>
                <a:spcPct val="115000"/>
              </a:lnSpc>
              <a:buNone/>
            </a:pPr>
            <a:r>
              <a:rPr lang="en-US" sz="1000" dirty="0">
                <a:solidFill>
                  <a:srgbClr val="5C6B7A"/>
                </a:solidFill>
                <a:latin typeface="Calibri" pitchFamily="34" charset="0"/>
                <a:ea typeface="Calibri" pitchFamily="34" charset="-122"/>
                <a:cs typeface="Calibri" pitchFamily="34" charset="-120"/>
              </a:rPr>
              <a:t>$4.7B revenue FY26 (+29%), 733 customers over $1M, ~11,000 customers in total. The ~10,000 below $1M are the long tail Lakelet targets.</a:t>
            </a:r>
            <a:endParaRPr lang="en-US" sz="1000" dirty="0"/>
          </a:p>
        </p:txBody>
      </p:sp>
      <p:sp>
        <p:nvSpPr>
          <p:cNvPr id="20" name="Text 18"/>
          <p:cNvSpPr txBox="1"/>
          <p:nvPr/>
        </p:nvSpPr>
        <p:spPr>
          <a:xfrm>
            <a:off x="6903720" y="3611880"/>
            <a:ext cx="4480560" cy="274320"/>
          </a:xfrm>
          <a:prstGeom prst="rect">
            <a:avLst/>
          </a:prstGeom>
          <a:noFill/>
          <a:ln/>
        </p:spPr>
        <p:txBody>
          <a:bodyPr wrap="square" lIns="0" tIns="0" rIns="0" bIns="0" rtlCol="0" anchor="t"/>
          <a:lstStyle/>
          <a:p>
            <a:pPr algn="l" indent="0" marL="0">
              <a:lnSpc>
                <a:spcPct val="115000"/>
              </a:lnSpc>
              <a:buNone/>
            </a:pPr>
            <a:r>
              <a:rPr lang="en-US" sz="1300" b="1" dirty="0">
                <a:solidFill>
                  <a:srgbClr val="172029"/>
                </a:solidFill>
                <a:latin typeface="Calibri" pitchFamily="34" charset="0"/>
                <a:ea typeface="Calibri" pitchFamily="34" charset="-122"/>
                <a:cs typeface="Calibri" pitchFamily="34" charset="-120"/>
              </a:rPr>
              <a:t>Databricks</a:t>
            </a:r>
            <a:endParaRPr lang="en-US" sz="1300" dirty="0"/>
          </a:p>
        </p:txBody>
      </p:sp>
      <p:sp>
        <p:nvSpPr>
          <p:cNvPr id="21" name="Text 19"/>
          <p:cNvSpPr txBox="1"/>
          <p:nvPr/>
        </p:nvSpPr>
        <p:spPr>
          <a:xfrm>
            <a:off x="6903720" y="3886200"/>
            <a:ext cx="4480560" cy="685800"/>
          </a:xfrm>
          <a:prstGeom prst="rect">
            <a:avLst/>
          </a:prstGeom>
          <a:noFill/>
          <a:ln/>
        </p:spPr>
        <p:txBody>
          <a:bodyPr wrap="square" lIns="0" tIns="0" rIns="0" bIns="0" rtlCol="0" anchor="t"/>
          <a:lstStyle/>
          <a:p>
            <a:pPr algn="l" indent="0" marL="0">
              <a:lnSpc>
                <a:spcPct val="115000"/>
              </a:lnSpc>
              <a:buNone/>
            </a:pPr>
            <a:r>
              <a:rPr lang="en-US" sz="1000" dirty="0">
                <a:solidFill>
                  <a:srgbClr val="5C6B7A"/>
                </a:solidFill>
                <a:latin typeface="Calibri" pitchFamily="34" charset="0"/>
                <a:ea typeface="Calibri" pitchFamily="34" charset="-122"/>
                <a:cs typeface="Calibri" pitchFamily="34" charset="-120"/>
              </a:rPr>
              <a:t>$4.8B run rate (Sep 2025, +55%), expected to pass Snowflake in 2026. Retired its Standard tier in April 2026; entry price went up 20–30%.</a:t>
            </a:r>
            <a:endParaRPr lang="en-US" sz="1000" dirty="0"/>
          </a:p>
        </p:txBody>
      </p:sp>
      <p:sp>
        <p:nvSpPr>
          <p:cNvPr id="22" name="Text 20"/>
          <p:cNvSpPr txBox="1"/>
          <p:nvPr/>
        </p:nvSpPr>
        <p:spPr>
          <a:xfrm>
            <a:off x="6903720" y="4617720"/>
            <a:ext cx="4480560" cy="274320"/>
          </a:xfrm>
          <a:prstGeom prst="rect">
            <a:avLst/>
          </a:prstGeom>
          <a:noFill/>
          <a:ln/>
        </p:spPr>
        <p:txBody>
          <a:bodyPr wrap="square" lIns="0" tIns="0" rIns="0" bIns="0" rtlCol="0" anchor="t"/>
          <a:lstStyle/>
          <a:p>
            <a:pPr algn="l" indent="0" marL="0">
              <a:lnSpc>
                <a:spcPct val="115000"/>
              </a:lnSpc>
              <a:buNone/>
            </a:pPr>
            <a:r>
              <a:rPr lang="en-US" sz="1300" b="1" dirty="0">
                <a:solidFill>
                  <a:srgbClr val="172029"/>
                </a:solidFill>
                <a:latin typeface="Calibri" pitchFamily="34" charset="0"/>
                <a:ea typeface="Calibri" pitchFamily="34" charset="-122"/>
                <a:cs typeface="Calibri" pitchFamily="34" charset="-120"/>
              </a:rPr>
              <a:t>MotherDuck</a:t>
            </a:r>
            <a:endParaRPr lang="en-US" sz="1300" dirty="0"/>
          </a:p>
        </p:txBody>
      </p:sp>
      <p:sp>
        <p:nvSpPr>
          <p:cNvPr id="23" name="Text 21"/>
          <p:cNvSpPr txBox="1"/>
          <p:nvPr/>
        </p:nvSpPr>
        <p:spPr>
          <a:xfrm>
            <a:off x="6903720" y="4892040"/>
            <a:ext cx="4480560" cy="685800"/>
          </a:xfrm>
          <a:prstGeom prst="rect">
            <a:avLst/>
          </a:prstGeom>
          <a:noFill/>
          <a:ln/>
        </p:spPr>
        <p:txBody>
          <a:bodyPr wrap="square" lIns="0" tIns="0" rIns="0" bIns="0" rtlCol="0" anchor="t"/>
          <a:lstStyle/>
          <a:p>
            <a:pPr algn="l" indent="0" marL="0">
              <a:lnSpc>
                <a:spcPct val="115000"/>
              </a:lnSpc>
              <a:buNone/>
            </a:pPr>
            <a:r>
              <a:rPr lang="en-US" sz="1000" dirty="0">
                <a:solidFill>
                  <a:srgbClr val="5C6B7A"/>
                </a:solidFill>
                <a:latin typeface="Calibri" pitchFamily="34" charset="0"/>
                <a:ea typeface="Calibri" pitchFamily="34" charset="-122"/>
                <a:cs typeface="Calibri" pitchFamily="34" charset="-120"/>
              </a:rPr>
              <a:t>~$133M raised at ~$496M. Removed the $25 tier in early 2026; free is 10 GB, next step $250/month per org.</a:t>
            </a:r>
            <a:endParaRPr lang="en-US" sz="1000" dirty="0"/>
          </a:p>
        </p:txBody>
      </p:sp>
      <p:sp>
        <p:nvSpPr>
          <p:cNvPr id="24" name="Text 22"/>
          <p:cNvSpPr txBox="1"/>
          <p:nvPr/>
        </p:nvSpPr>
        <p:spPr>
          <a:xfrm>
            <a:off x="548640" y="5852160"/>
            <a:ext cx="11091672" cy="365760"/>
          </a:xfrm>
          <a:prstGeom prst="rect">
            <a:avLst/>
          </a:prstGeom>
          <a:noFill/>
          <a:ln/>
        </p:spPr>
        <p:txBody>
          <a:bodyPr wrap="square" lIns="0" tIns="0" rIns="0" bIns="0" rtlCol="0" anchor="t"/>
          <a:lstStyle/>
          <a:p>
            <a:pPr algn="l" indent="0" marL="0">
              <a:lnSpc>
                <a:spcPct val="115000"/>
              </a:lnSpc>
              <a:buNone/>
            </a:pPr>
            <a:r>
              <a:rPr lang="en-US" sz="1150" b="1" dirty="0">
                <a:solidFill>
                  <a:srgbClr val="172029"/>
                </a:solidFill>
                <a:latin typeface="Calibri" pitchFamily="34" charset="0"/>
                <a:ea typeface="Calibri" pitchFamily="34" charset="-122"/>
                <a:cs typeface="Calibri" pitchFamily="34" charset="-120"/>
              </a:rPr>
              <a:t>The gap: every incumbent has raised its floor in the last 18 months. Lakelet's floor is a laptop.</a:t>
            </a:r>
            <a:endParaRPr lang="en-US" sz="1150" dirty="0"/>
          </a:p>
        </p:txBody>
      </p:sp>
      <p:sp>
        <p:nvSpPr>
          <p:cNvPr id="25" name="Text 23"/>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26" name="Text 24"/>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One box. Ask in English or write SQL. The gauge runs first.</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Engineers ignore the English; founders ignore the SQL; agents call the same tools over MCP. Nobody is asked which one they are, and nothing runs before the verdict.</a:t>
            </a:r>
            <a:endParaRPr lang="en-US" sz="1600" dirty="0"/>
          </a:p>
        </p:txBody>
      </p:sp>
      <p:sp>
        <p:nvSpPr>
          <p:cNvPr id="4" name="Shape 2"/>
          <p:cNvSpPr/>
          <p:nvPr/>
        </p:nvSpPr>
        <p:spPr>
          <a:xfrm>
            <a:off x="548640" y="2103120"/>
            <a:ext cx="5852160" cy="3840480"/>
          </a:xfrm>
          <a:prstGeom prst="roundRect">
            <a:avLst>
              <a:gd name="adj" fmla="val 2857"/>
            </a:avLst>
          </a:prstGeom>
          <a:solidFill>
            <a:srgbClr val="FFFFFF"/>
          </a:solidFill>
          <a:ln w="9525">
            <a:solidFill>
              <a:srgbClr val="D5DBE2"/>
            </a:solidFill>
            <a:prstDash val="solid"/>
          </a:ln>
          <a:effectLst>
            <a:outerShdw sx="100000" sy="100000" kx="0" ky="0" algn="bl" rotWithShape="0" blurRad="152400" dist="50800" dir="5400000">
              <a:srgbClr val="172029">
                <a:alpha val="12000"/>
              </a:srgbClr>
            </a:outerShdw>
          </a:effectLst>
        </p:spPr>
      </p:sp>
      <p:sp>
        <p:nvSpPr>
          <p:cNvPr id="5" name="Shape 3"/>
          <p:cNvSpPr/>
          <p:nvPr/>
        </p:nvSpPr>
        <p:spPr>
          <a:xfrm>
            <a:off x="822960" y="2331720"/>
            <a:ext cx="5303520" cy="457200"/>
          </a:xfrm>
          <a:prstGeom prst="roundRect">
            <a:avLst>
              <a:gd name="adj" fmla="val 16000"/>
            </a:avLst>
          </a:prstGeom>
          <a:solidFill>
            <a:srgbClr val="FFFFFF"/>
          </a:solidFill>
          <a:ln w="9525">
            <a:solidFill>
              <a:srgbClr val="D5DBE2"/>
            </a:solidFill>
            <a:prstDash val="solid"/>
          </a:ln>
        </p:spPr>
      </p:sp>
      <p:sp>
        <p:nvSpPr>
          <p:cNvPr id="6" name="Text 4"/>
          <p:cNvSpPr txBox="1"/>
          <p:nvPr/>
        </p:nvSpPr>
        <p:spPr>
          <a:xfrm>
            <a:off x="960120" y="2441448"/>
            <a:ext cx="457200" cy="237744"/>
          </a:xfrm>
          <a:prstGeom prst="rect">
            <a:avLst/>
          </a:prstGeom>
          <a:noFill/>
          <a:ln/>
        </p:spPr>
        <p:txBody>
          <a:bodyPr wrap="square" lIns="0" tIns="0" rIns="0" bIns="0" rtlCol="0" anchor="t"/>
          <a:lstStyle/>
          <a:p>
            <a:pPr algn="l" indent="0" marL="0">
              <a:lnSpc>
                <a:spcPct val="115000"/>
              </a:lnSpc>
              <a:buNone/>
            </a:pPr>
            <a:r>
              <a:rPr lang="en-US" sz="900" b="1" dirty="0">
                <a:solidFill>
                  <a:srgbClr val="5C6B7A"/>
                </a:solidFill>
                <a:latin typeface="Calibri" pitchFamily="34" charset="0"/>
                <a:ea typeface="Calibri" pitchFamily="34" charset="-122"/>
                <a:cs typeface="Calibri" pitchFamily="34" charset="-120"/>
              </a:rPr>
              <a:t>Ask</a:t>
            </a:r>
            <a:endParaRPr lang="en-US" sz="900" dirty="0"/>
          </a:p>
        </p:txBody>
      </p:sp>
      <p:sp>
        <p:nvSpPr>
          <p:cNvPr id="7" name="Text 5"/>
          <p:cNvSpPr txBox="1"/>
          <p:nvPr/>
        </p:nvSpPr>
        <p:spPr>
          <a:xfrm>
            <a:off x="1417320" y="2432304"/>
            <a:ext cx="4480560" cy="274320"/>
          </a:xfrm>
          <a:prstGeom prst="rect">
            <a:avLst/>
          </a:prstGeom>
          <a:noFill/>
          <a:ln/>
        </p:spPr>
        <p:txBody>
          <a:bodyPr wrap="square" lIns="0" tIns="0" rIns="0" bIns="0" rtlCol="0" anchor="t"/>
          <a:lstStyle/>
          <a:p>
            <a:pPr algn="l" indent="0" marL="0">
              <a:lnSpc>
                <a:spcPct val="115000"/>
              </a:lnSpc>
              <a:buNone/>
            </a:pPr>
            <a:r>
              <a:rPr lang="en-US" sz="1200" dirty="0">
                <a:solidFill>
                  <a:srgbClr val="172029"/>
                </a:solidFill>
                <a:latin typeface="Calibri" pitchFamily="34" charset="0"/>
                <a:ea typeface="Calibri" pitchFamily="34" charset="-122"/>
                <a:cs typeface="Calibri" pitchFamily="34" charset="-120"/>
              </a:rPr>
              <a:t>daily active users by country, last 90 days</a:t>
            </a:r>
            <a:endParaRPr lang="en-US" sz="1200" dirty="0"/>
          </a:p>
        </p:txBody>
      </p:sp>
      <p:sp>
        <p:nvSpPr>
          <p:cNvPr id="8" name="Shape 6"/>
          <p:cNvSpPr/>
          <p:nvPr/>
        </p:nvSpPr>
        <p:spPr>
          <a:xfrm>
            <a:off x="822960" y="2926080"/>
            <a:ext cx="5303520" cy="1143000"/>
          </a:xfrm>
          <a:prstGeom prst="roundRect">
            <a:avLst>
              <a:gd name="adj" fmla="val 6400"/>
            </a:avLst>
          </a:prstGeom>
          <a:solidFill>
            <a:srgbClr val="EEF1F4"/>
          </a:solidFill>
          <a:ln w="12700">
            <a:solidFill>
              <a:srgbClr val="EEF1F4"/>
            </a:solidFill>
            <a:prstDash val="solid"/>
          </a:ln>
        </p:spPr>
      </p:sp>
      <p:sp>
        <p:nvSpPr>
          <p:cNvPr id="9" name="Text 7"/>
          <p:cNvSpPr txBox="1"/>
          <p:nvPr/>
        </p:nvSpPr>
        <p:spPr>
          <a:xfrm>
            <a:off x="960120" y="3017520"/>
            <a:ext cx="5029200" cy="1005840"/>
          </a:xfrm>
          <a:prstGeom prst="rect">
            <a:avLst/>
          </a:prstGeom>
          <a:noFill/>
          <a:ln/>
        </p:spPr>
        <p:txBody>
          <a:bodyPr wrap="square" lIns="0" tIns="0" rIns="0" bIns="0" rtlCol="0" anchor="t"/>
          <a:lstStyle/>
          <a:p>
            <a:pPr algn="l" indent="0" marL="0">
              <a:lnSpc>
                <a:spcPct val="115000"/>
              </a:lnSpc>
              <a:buNone/>
            </a:pPr>
            <a:r>
              <a:rPr lang="en-US" sz="1000" dirty="0">
                <a:solidFill>
                  <a:srgbClr val="172029"/>
                </a:solidFill>
                <a:latin typeface="Calibri" pitchFamily="34" charset="0"/>
                <a:ea typeface="Calibri" pitchFamily="34" charset="-122"/>
                <a:cs typeface="Calibri" pitchFamily="34" charset="-120"/>
              </a:rPr>
              <a:t>select event_date, country, count(distinct user_id) as dau</a:t>
            </a:r>
            <a:endParaRPr lang="en-US" sz="1000" dirty="0"/>
          </a:p>
          <a:p>
            <a:pPr algn="l" indent="0" marL="0">
              <a:lnSpc>
                <a:spcPct val="115000"/>
              </a:lnSpc>
              <a:buNone/>
            </a:pPr>
            <a:r>
              <a:rPr lang="en-US" sz="1000" dirty="0">
                <a:solidFill>
                  <a:srgbClr val="172029"/>
                </a:solidFill>
                <a:latin typeface="Calibri" pitchFamily="34" charset="0"/>
                <a:ea typeface="Calibri" pitchFamily="34" charset="-122"/>
                <a:cs typeface="Calibri" pitchFamily="34" charset="-120"/>
              </a:rPr>
              <a:t>from events</a:t>
            </a:r>
            <a:endParaRPr lang="en-US" sz="1000" dirty="0"/>
          </a:p>
          <a:p>
            <a:pPr algn="l" indent="0" marL="0">
              <a:lnSpc>
                <a:spcPct val="115000"/>
              </a:lnSpc>
              <a:buNone/>
            </a:pPr>
            <a:r>
              <a:rPr lang="en-US" sz="1000" dirty="0">
                <a:solidFill>
                  <a:srgbClr val="172029"/>
                </a:solidFill>
                <a:latin typeface="Calibri" pitchFamily="34" charset="0"/>
                <a:ea typeface="Calibri" pitchFamily="34" charset="-122"/>
                <a:cs typeface="Calibri" pitchFamily="34" charset="-120"/>
              </a:rPr>
              <a:t>where event_date &gt;= current_date - interval 90 day</a:t>
            </a:r>
            <a:endParaRPr lang="en-US" sz="1000" dirty="0"/>
          </a:p>
          <a:p>
            <a:pPr algn="l" indent="0" marL="0">
              <a:lnSpc>
                <a:spcPct val="115000"/>
              </a:lnSpc>
              <a:buNone/>
            </a:pPr>
            <a:r>
              <a:rPr lang="en-US" sz="1000" dirty="0">
                <a:solidFill>
                  <a:srgbClr val="172029"/>
                </a:solidFill>
                <a:latin typeface="Calibri" pitchFamily="34" charset="0"/>
                <a:ea typeface="Calibri" pitchFamily="34" charset="-122"/>
                <a:cs typeface="Calibri" pitchFamily="34" charset="-120"/>
              </a:rPr>
              <a:t>group by 1, 2 order by 1, 3 desc</a:t>
            </a:r>
            <a:endParaRPr lang="en-US" sz="1000" dirty="0"/>
          </a:p>
        </p:txBody>
      </p:sp>
      <p:sp>
        <p:nvSpPr>
          <p:cNvPr id="10" name="Text 8"/>
          <p:cNvSpPr txBox="1"/>
          <p:nvPr/>
        </p:nvSpPr>
        <p:spPr>
          <a:xfrm>
            <a:off x="5029200" y="2999232"/>
            <a:ext cx="1097280" cy="228600"/>
          </a:xfrm>
          <a:prstGeom prst="rect">
            <a:avLst/>
          </a:prstGeom>
          <a:noFill/>
          <a:ln/>
        </p:spPr>
        <p:txBody>
          <a:bodyPr wrap="square" lIns="0" tIns="0" rIns="0" bIns="0" rtlCol="0" anchor="t"/>
          <a:lstStyle/>
          <a:p>
            <a:pPr algn="r" indent="0" marL="0">
              <a:lnSpc>
                <a:spcPct val="115000"/>
              </a:lnSpc>
              <a:buNone/>
            </a:pPr>
            <a:r>
              <a:rPr lang="en-US" sz="800" b="1" dirty="0">
                <a:solidFill>
                  <a:srgbClr val="5C6B7A"/>
                </a:solidFill>
                <a:latin typeface="Calibri" pitchFamily="34" charset="0"/>
                <a:ea typeface="Calibri" pitchFamily="34" charset="-122"/>
                <a:cs typeface="Calibri" pitchFamily="34" charset="-120"/>
              </a:rPr>
              <a:t>SQL · editable</a:t>
            </a:r>
            <a:endParaRPr lang="en-US" sz="800" dirty="0"/>
          </a:p>
        </p:txBody>
      </p:sp>
      <p:sp>
        <p:nvSpPr>
          <p:cNvPr id="11" name="Shape 9"/>
          <p:cNvSpPr/>
          <p:nvPr/>
        </p:nvSpPr>
        <p:spPr>
          <a:xfrm>
            <a:off x="841248" y="4279392"/>
            <a:ext cx="164592" cy="164592"/>
          </a:xfrm>
          <a:prstGeom prst="ellipse">
            <a:avLst/>
          </a:prstGeom>
          <a:solidFill>
            <a:srgbClr val="D24B3A"/>
          </a:solidFill>
          <a:ln w="12700">
            <a:solidFill>
              <a:srgbClr val="D24B3A"/>
            </a:solidFill>
            <a:prstDash val="solid"/>
          </a:ln>
        </p:spPr>
      </p:sp>
      <p:sp>
        <p:nvSpPr>
          <p:cNvPr id="12" name="Text 10"/>
          <p:cNvSpPr txBox="1"/>
          <p:nvPr/>
        </p:nvSpPr>
        <p:spPr>
          <a:xfrm>
            <a:off x="1097280" y="4206240"/>
            <a:ext cx="2011680" cy="274320"/>
          </a:xfrm>
          <a:prstGeom prst="rect">
            <a:avLst/>
          </a:prstGeom>
          <a:noFill/>
          <a:ln/>
        </p:spPr>
        <p:txBody>
          <a:bodyPr wrap="square" lIns="0" tIns="0" rIns="0" bIns="0" rtlCol="0" anchor="t"/>
          <a:lstStyle/>
          <a:p>
            <a:pPr algn="l" indent="0" marL="0">
              <a:lnSpc>
                <a:spcPct val="115000"/>
              </a:lnSpc>
              <a:buNone/>
            </a:pPr>
            <a:r>
              <a:rPr lang="en-US" sz="1200" b="1" dirty="0">
                <a:solidFill>
                  <a:srgbClr val="172029"/>
                </a:solidFill>
                <a:latin typeface="Calibri" pitchFamily="34" charset="0"/>
                <a:ea typeface="Calibri" pitchFamily="34" charset="-122"/>
                <a:cs typeface="Calibri" pitchFamily="34" charset="-120"/>
              </a:rPr>
              <a:t>Needs more machine</a:t>
            </a:r>
            <a:endParaRPr lang="en-US" sz="1200" dirty="0"/>
          </a:p>
        </p:txBody>
      </p:sp>
      <p:sp>
        <p:nvSpPr>
          <p:cNvPr id="13" name="Text 11"/>
          <p:cNvSpPr txBox="1"/>
          <p:nvPr/>
        </p:nvSpPr>
        <p:spPr>
          <a:xfrm>
            <a:off x="2834640" y="4224528"/>
            <a:ext cx="3383280" cy="27432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 48 GB from s3://acme-data, ~34 min at your 190 Mbps · burst ~1.5 min</a:t>
            </a:r>
            <a:endParaRPr lang="en-US" sz="950" dirty="0"/>
          </a:p>
        </p:txBody>
      </p:sp>
      <p:sp>
        <p:nvSpPr>
          <p:cNvPr id="14" name="Shape 12"/>
          <p:cNvSpPr/>
          <p:nvPr/>
        </p:nvSpPr>
        <p:spPr>
          <a:xfrm>
            <a:off x="822960" y="4617720"/>
            <a:ext cx="1737360" cy="384048"/>
          </a:xfrm>
          <a:prstGeom prst="roundRect">
            <a:avLst>
              <a:gd name="adj" fmla="val 16667"/>
            </a:avLst>
          </a:prstGeom>
          <a:solidFill>
            <a:srgbClr val="D24B3A"/>
          </a:solidFill>
          <a:ln w="12700">
            <a:solidFill>
              <a:srgbClr val="D24B3A"/>
            </a:solidFill>
            <a:prstDash val="solid"/>
          </a:ln>
        </p:spPr>
      </p:sp>
      <p:sp>
        <p:nvSpPr>
          <p:cNvPr id="15" name="Text 13"/>
          <p:cNvSpPr txBox="1"/>
          <p:nvPr/>
        </p:nvSpPr>
        <p:spPr>
          <a:xfrm>
            <a:off x="822960" y="4617720"/>
            <a:ext cx="1737360" cy="384048"/>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Calibri" pitchFamily="34" charset="0"/>
                <a:ea typeface="Calibri" pitchFamily="34" charset="-122"/>
                <a:cs typeface="Calibri" pitchFamily="34" charset="-120"/>
              </a:rPr>
              <a:t>Burst · ≤ $0.41</a:t>
            </a:r>
            <a:endParaRPr lang="en-US" sz="1100" dirty="0"/>
          </a:p>
        </p:txBody>
      </p:sp>
      <p:sp>
        <p:nvSpPr>
          <p:cNvPr id="16" name="Shape 14"/>
          <p:cNvSpPr/>
          <p:nvPr/>
        </p:nvSpPr>
        <p:spPr>
          <a:xfrm>
            <a:off x="2697480" y="4617720"/>
            <a:ext cx="2011680" cy="384048"/>
          </a:xfrm>
          <a:prstGeom prst="roundRect">
            <a:avLst>
              <a:gd name="adj" fmla="val 16667"/>
            </a:avLst>
          </a:prstGeom>
          <a:solidFill>
            <a:srgbClr val="FFFFFF"/>
          </a:solidFill>
          <a:ln w="12700">
            <a:solidFill>
              <a:srgbClr val="172029"/>
            </a:solidFill>
            <a:prstDash val="solid"/>
          </a:ln>
        </p:spPr>
      </p:sp>
      <p:sp>
        <p:nvSpPr>
          <p:cNvPr id="17" name="Text 15"/>
          <p:cNvSpPr txBox="1"/>
          <p:nvPr/>
        </p:nvSpPr>
        <p:spPr>
          <a:xfrm>
            <a:off x="2697480" y="4617720"/>
            <a:ext cx="2011680" cy="384048"/>
          </a:xfrm>
          <a:prstGeom prst="rect">
            <a:avLst/>
          </a:prstGeom>
          <a:noFill/>
          <a:ln/>
        </p:spPr>
        <p:txBody>
          <a:bodyPr wrap="square" lIns="0" tIns="0" rIns="0" bIns="0" rtlCol="0" anchor="ctr"/>
          <a:lstStyle/>
          <a:p>
            <a:pPr algn="ctr" indent="0" marL="0">
              <a:lnSpc>
                <a:spcPct val="115000"/>
              </a:lnSpc>
              <a:buNone/>
            </a:pPr>
            <a:r>
              <a:rPr lang="en-US" sz="1000" dirty="0">
                <a:solidFill>
                  <a:srgbClr val="172029"/>
                </a:solidFill>
                <a:latin typeface="Calibri" pitchFamily="34" charset="0"/>
                <a:ea typeface="Calibri" pitchFamily="34" charset="-122"/>
                <a:cs typeface="Calibri" pitchFamily="34" charset="-120"/>
              </a:rPr>
              <a:t>Run locally anyway (~34 min)</a:t>
            </a:r>
            <a:endParaRPr lang="en-US" sz="1000" dirty="0"/>
          </a:p>
        </p:txBody>
      </p:sp>
      <p:sp>
        <p:nvSpPr>
          <p:cNvPr id="18" name="Text 16"/>
          <p:cNvSpPr txBox="1"/>
          <p:nvPr/>
        </p:nvSpPr>
        <p:spPr>
          <a:xfrm>
            <a:off x="822960" y="5166360"/>
            <a:ext cx="5303520" cy="54864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The bill for a burst cannot exceed the number on the button. The worker enforces the cap.</a:t>
            </a:r>
            <a:endParaRPr lang="en-US" sz="1050" dirty="0"/>
          </a:p>
        </p:txBody>
      </p:sp>
      <p:sp>
        <p:nvSpPr>
          <p:cNvPr id="19" name="Shape 17"/>
          <p:cNvSpPr/>
          <p:nvPr/>
        </p:nvSpPr>
        <p:spPr>
          <a:xfrm>
            <a:off x="6675120" y="2103120"/>
            <a:ext cx="4965192" cy="749808"/>
          </a:xfrm>
          <a:prstGeom prst="roundRect">
            <a:avLst>
              <a:gd name="adj" fmla="val 14634"/>
            </a:avLst>
          </a:prstGeom>
          <a:solidFill>
            <a:srgbClr val="FFFFFF"/>
          </a:solidFill>
          <a:ln w="9525">
            <a:solidFill>
              <a:srgbClr val="D5DBE2"/>
            </a:solidFill>
            <a:prstDash val="solid"/>
          </a:ln>
        </p:spPr>
      </p:sp>
      <p:pic>
        <p:nvPicPr>
          <p:cNvPr id="20" name="Image 0" descr="preencoded.png">    </p:cNvPr>
          <p:cNvPicPr>
            <a:picLocks noChangeAspect="1"/>
          </p:cNvPicPr>
          <p:nvPr/>
        </p:nvPicPr>
        <p:blipFill>
          <a:blip r:embed="rId1"/>
          <a:stretch>
            <a:fillRect/>
          </a:stretch>
        </p:blipFill>
        <p:spPr>
          <a:xfrm>
            <a:off x="6903720" y="2304288"/>
            <a:ext cx="329184" cy="329184"/>
          </a:xfrm>
          <a:prstGeom prst="rect">
            <a:avLst/>
          </a:prstGeom>
        </p:spPr>
      </p:pic>
      <p:sp>
        <p:nvSpPr>
          <p:cNvPr id="21" name="Text 18"/>
          <p:cNvSpPr txBox="1"/>
          <p:nvPr/>
        </p:nvSpPr>
        <p:spPr>
          <a:xfrm>
            <a:off x="7360920" y="2212848"/>
            <a:ext cx="4114800" cy="274320"/>
          </a:xfrm>
          <a:prstGeom prst="rect">
            <a:avLst/>
          </a:prstGeom>
          <a:noFill/>
          <a:ln/>
        </p:spPr>
        <p:txBody>
          <a:bodyPr wrap="square" lIns="0" tIns="0" rIns="0" bIns="0" rtlCol="0" anchor="t"/>
          <a:lstStyle/>
          <a:p>
            <a:pPr algn="l" indent="0" marL="0">
              <a:lnSpc>
                <a:spcPct val="115000"/>
              </a:lnSpc>
              <a:buNone/>
            </a:pPr>
            <a:r>
              <a:rPr lang="en-US" sz="1300" b="1" dirty="0">
                <a:solidFill>
                  <a:srgbClr val="172029"/>
                </a:solidFill>
                <a:latin typeface="Calibri" pitchFamily="34" charset="0"/>
                <a:ea typeface="Calibri" pitchFamily="34" charset="-122"/>
                <a:cs typeface="Calibri" pitchFamily="34" charset="-120"/>
              </a:rPr>
              <a:t>Runs here</a:t>
            </a:r>
            <a:endParaRPr lang="en-US" sz="1300" dirty="0"/>
          </a:p>
        </p:txBody>
      </p:sp>
      <p:sp>
        <p:nvSpPr>
          <p:cNvPr id="22" name="Text 19"/>
          <p:cNvSpPr txBox="1"/>
          <p:nvPr/>
        </p:nvSpPr>
        <p:spPr>
          <a:xfrm>
            <a:off x="7360920" y="2468880"/>
            <a:ext cx="4114800" cy="36576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Fits in memory, seconds. Most queries on most teams' data. Free.</a:t>
            </a:r>
            <a:endParaRPr lang="en-US" sz="1050" dirty="0"/>
          </a:p>
        </p:txBody>
      </p:sp>
      <p:sp>
        <p:nvSpPr>
          <p:cNvPr id="23" name="Shape 20"/>
          <p:cNvSpPr/>
          <p:nvPr/>
        </p:nvSpPr>
        <p:spPr>
          <a:xfrm>
            <a:off x="6675120" y="2971800"/>
            <a:ext cx="4965192" cy="749808"/>
          </a:xfrm>
          <a:prstGeom prst="roundRect">
            <a:avLst>
              <a:gd name="adj" fmla="val 14634"/>
            </a:avLst>
          </a:prstGeom>
          <a:solidFill>
            <a:srgbClr val="FFFFFF"/>
          </a:solidFill>
          <a:ln w="9525">
            <a:solidFill>
              <a:srgbClr val="D5DBE2"/>
            </a:solidFill>
            <a:prstDash val="solid"/>
          </a:ln>
        </p:spPr>
      </p:sp>
      <p:pic>
        <p:nvPicPr>
          <p:cNvPr id="24" name="Image 1" descr="preencoded.png">    </p:cNvPr>
          <p:cNvPicPr>
            <a:picLocks noChangeAspect="1"/>
          </p:cNvPicPr>
          <p:nvPr/>
        </p:nvPicPr>
        <p:blipFill>
          <a:blip r:embed="rId2"/>
          <a:stretch>
            <a:fillRect/>
          </a:stretch>
        </p:blipFill>
        <p:spPr>
          <a:xfrm>
            <a:off x="6903720" y="3172968"/>
            <a:ext cx="329184" cy="329184"/>
          </a:xfrm>
          <a:prstGeom prst="rect">
            <a:avLst/>
          </a:prstGeom>
        </p:spPr>
      </p:pic>
      <p:sp>
        <p:nvSpPr>
          <p:cNvPr id="25" name="Text 21"/>
          <p:cNvSpPr txBox="1"/>
          <p:nvPr/>
        </p:nvSpPr>
        <p:spPr>
          <a:xfrm>
            <a:off x="7360920" y="3081528"/>
            <a:ext cx="4114800" cy="274320"/>
          </a:xfrm>
          <a:prstGeom prst="rect">
            <a:avLst/>
          </a:prstGeom>
          <a:noFill/>
          <a:ln/>
        </p:spPr>
        <p:txBody>
          <a:bodyPr wrap="square" lIns="0" tIns="0" rIns="0" bIns="0" rtlCol="0" anchor="t"/>
          <a:lstStyle/>
          <a:p>
            <a:pPr algn="l" indent="0" marL="0">
              <a:lnSpc>
                <a:spcPct val="115000"/>
              </a:lnSpc>
              <a:buNone/>
            </a:pPr>
            <a:r>
              <a:rPr lang="en-US" sz="1300" b="1" dirty="0">
                <a:solidFill>
                  <a:srgbClr val="172029"/>
                </a:solidFill>
                <a:latin typeface="Calibri" pitchFamily="34" charset="0"/>
                <a:ea typeface="Calibri" pitchFamily="34" charset="-122"/>
                <a:cs typeface="Calibri" pitchFamily="34" charset="-120"/>
              </a:rPr>
              <a:t>Runs here, slowly</a:t>
            </a:r>
            <a:endParaRPr lang="en-US" sz="1300" dirty="0"/>
          </a:p>
        </p:txBody>
      </p:sp>
      <p:sp>
        <p:nvSpPr>
          <p:cNvPr id="26" name="Text 22"/>
          <p:cNvSpPr txBox="1"/>
          <p:nvPr/>
        </p:nvSpPr>
        <p:spPr>
          <a:xfrm>
            <a:off x="7360920" y="3337560"/>
            <a:ext cx="4114800" cy="36576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Spills to disk or takes minutes. You see the estimate and decide.</a:t>
            </a:r>
            <a:endParaRPr lang="en-US" sz="1050" dirty="0"/>
          </a:p>
        </p:txBody>
      </p:sp>
      <p:sp>
        <p:nvSpPr>
          <p:cNvPr id="27" name="Shape 23"/>
          <p:cNvSpPr/>
          <p:nvPr/>
        </p:nvSpPr>
        <p:spPr>
          <a:xfrm>
            <a:off x="6675120" y="3840480"/>
            <a:ext cx="4965192" cy="749808"/>
          </a:xfrm>
          <a:prstGeom prst="roundRect">
            <a:avLst>
              <a:gd name="adj" fmla="val 14634"/>
            </a:avLst>
          </a:prstGeom>
          <a:solidFill>
            <a:srgbClr val="FFFFFF"/>
          </a:solidFill>
          <a:ln w="9525">
            <a:solidFill>
              <a:srgbClr val="D5DBE2"/>
            </a:solidFill>
            <a:prstDash val="solid"/>
          </a:ln>
        </p:spPr>
      </p:sp>
      <p:pic>
        <p:nvPicPr>
          <p:cNvPr id="28" name="Image 2" descr="preencoded.png">    </p:cNvPr>
          <p:cNvPicPr>
            <a:picLocks noChangeAspect="1"/>
          </p:cNvPicPr>
          <p:nvPr/>
        </p:nvPicPr>
        <p:blipFill>
          <a:blip r:embed="rId3"/>
          <a:stretch>
            <a:fillRect/>
          </a:stretch>
        </p:blipFill>
        <p:spPr>
          <a:xfrm>
            <a:off x="6903720" y="4041648"/>
            <a:ext cx="329184" cy="329184"/>
          </a:xfrm>
          <a:prstGeom prst="rect">
            <a:avLst/>
          </a:prstGeom>
        </p:spPr>
      </p:pic>
      <p:sp>
        <p:nvSpPr>
          <p:cNvPr id="29" name="Text 24"/>
          <p:cNvSpPr txBox="1"/>
          <p:nvPr/>
        </p:nvSpPr>
        <p:spPr>
          <a:xfrm>
            <a:off x="7360920" y="3950208"/>
            <a:ext cx="4114800" cy="274320"/>
          </a:xfrm>
          <a:prstGeom prst="rect">
            <a:avLst/>
          </a:prstGeom>
          <a:noFill/>
          <a:ln/>
        </p:spPr>
        <p:txBody>
          <a:bodyPr wrap="square" lIns="0" tIns="0" rIns="0" bIns="0" rtlCol="0" anchor="t"/>
          <a:lstStyle/>
          <a:p>
            <a:pPr algn="l" indent="0" marL="0">
              <a:lnSpc>
                <a:spcPct val="115000"/>
              </a:lnSpc>
              <a:buNone/>
            </a:pPr>
            <a:r>
              <a:rPr lang="en-US" sz="1300" b="1" dirty="0">
                <a:solidFill>
                  <a:srgbClr val="172029"/>
                </a:solidFill>
                <a:latin typeface="Calibri" pitchFamily="34" charset="0"/>
                <a:ea typeface="Calibri" pitchFamily="34" charset="-122"/>
                <a:cs typeface="Calibri" pitchFamily="34" charset="-120"/>
              </a:rPr>
              <a:t>Needs more machine</a:t>
            </a:r>
            <a:endParaRPr lang="en-US" sz="1300" dirty="0"/>
          </a:p>
        </p:txBody>
      </p:sp>
      <p:sp>
        <p:nvSpPr>
          <p:cNvPr id="30" name="Text 25"/>
          <p:cNvSpPr txBox="1"/>
          <p:nvPr/>
        </p:nvSpPr>
        <p:spPr>
          <a:xfrm>
            <a:off x="7360920" y="4206240"/>
            <a:ext cx="4114800" cy="36576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One click, a worker in your cloud account, cap shown first.</a:t>
            </a:r>
            <a:endParaRPr lang="en-US" sz="1050" dirty="0"/>
          </a:p>
        </p:txBody>
      </p:sp>
      <p:sp>
        <p:nvSpPr>
          <p:cNvPr id="31" name="Shape 26"/>
          <p:cNvSpPr/>
          <p:nvPr/>
        </p:nvSpPr>
        <p:spPr>
          <a:xfrm>
            <a:off x="6675120" y="4754880"/>
            <a:ext cx="4965192" cy="1188720"/>
          </a:xfrm>
          <a:prstGeom prst="roundRect">
            <a:avLst>
              <a:gd name="adj" fmla="val 9231"/>
            </a:avLst>
          </a:prstGeom>
          <a:solidFill>
            <a:srgbClr val="FFFFFF"/>
          </a:solidFill>
          <a:ln w="9525">
            <a:solidFill>
              <a:srgbClr val="D5DBE2"/>
            </a:solidFill>
            <a:prstDash val="solid"/>
          </a:ln>
        </p:spPr>
      </p:sp>
      <p:sp>
        <p:nvSpPr>
          <p:cNvPr id="32" name="Text 27"/>
          <p:cNvSpPr txBox="1"/>
          <p:nvPr/>
        </p:nvSpPr>
        <p:spPr>
          <a:xfrm>
            <a:off x="6903720" y="4892040"/>
            <a:ext cx="4572000" cy="274320"/>
          </a:xfrm>
          <a:prstGeom prst="rect">
            <a:avLst/>
          </a:prstGeom>
          <a:noFill/>
          <a:ln/>
        </p:spPr>
        <p:txBody>
          <a:bodyPr wrap="square" lIns="0" tIns="0" rIns="0" bIns="0" rtlCol="0" anchor="t"/>
          <a:lstStyle/>
          <a:p>
            <a:pPr algn="l" indent="0" marL="0">
              <a:lnSpc>
                <a:spcPct val="115000"/>
              </a:lnSpc>
              <a:buNone/>
            </a:pPr>
            <a:r>
              <a:rPr lang="en-US" sz="1300" b="1" dirty="0">
                <a:solidFill>
                  <a:srgbClr val="172029"/>
                </a:solidFill>
                <a:latin typeface="Calibri" pitchFamily="34" charset="0"/>
                <a:ea typeface="Calibri" pitchFamily="34" charset="-122"/>
                <a:cs typeface="Calibri" pitchFamily="34" charset="-120"/>
              </a:rPr>
              <a:t>Simple / Technical switch</a:t>
            </a:r>
            <a:endParaRPr lang="en-US" sz="1300" dirty="0"/>
          </a:p>
        </p:txBody>
      </p:sp>
      <p:sp>
        <p:nvSpPr>
          <p:cNvPr id="33" name="Text 28"/>
          <p:cNvSpPr txBox="1"/>
          <p:nvPr/>
        </p:nvSpPr>
        <p:spPr>
          <a:xfrm>
            <a:off x="6903720" y="5166360"/>
            <a:ext cx="4526280" cy="73152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Every project is a dbt project under git from the first save. Simple mode calls models "questions," tests "checks," commits "versions." Technical mode shows the DAG, the SQL and the diff. Same files either way.</a:t>
            </a:r>
            <a:endParaRPr lang="en-US" sz="1050" dirty="0"/>
          </a:p>
        </p:txBody>
      </p:sp>
      <p:sp>
        <p:nvSpPr>
          <p:cNvPr id="34" name="Text 29"/>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35" name="Text 30"/>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Built for people. Agents need it more.</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Supabase became the default backend because AI tools provision it on the user's behalf. Lakelet is built to be provisioned the same way, with the guardrail the incumbents lack.</a:t>
            </a:r>
            <a:endParaRPr lang="en-US" sz="1600" dirty="0"/>
          </a:p>
        </p:txBody>
      </p:sp>
      <p:sp>
        <p:nvSpPr>
          <p:cNvPr id="4" name="Shape 2"/>
          <p:cNvSpPr/>
          <p:nvPr/>
        </p:nvSpPr>
        <p:spPr>
          <a:xfrm>
            <a:off x="548640" y="2103120"/>
            <a:ext cx="3657600" cy="3886200"/>
          </a:xfrm>
          <a:prstGeom prst="roundRect">
            <a:avLst>
              <a:gd name="adj" fmla="val 3000"/>
            </a:avLst>
          </a:prstGeom>
          <a:solidFill>
            <a:srgbClr val="FFFFFF"/>
          </a:solidFill>
          <a:ln w="9525">
            <a:solidFill>
              <a:srgbClr val="D5DBE2"/>
            </a:solidFill>
            <a:prstDash val="solid"/>
          </a:ln>
        </p:spPr>
      </p:sp>
      <p:sp>
        <p:nvSpPr>
          <p:cNvPr id="5" name="Text 3"/>
          <p:cNvSpPr txBox="1"/>
          <p:nvPr/>
        </p:nvSpPr>
        <p:spPr>
          <a:xfrm>
            <a:off x="822960" y="2240280"/>
            <a:ext cx="3108960" cy="274320"/>
          </a:xfrm>
          <a:prstGeom prst="rect">
            <a:avLst/>
          </a:prstGeom>
          <a:noFill/>
          <a:ln/>
        </p:spPr>
        <p:txBody>
          <a:bodyPr wrap="square" lIns="0" tIns="0" rIns="0" bIns="0" rtlCol="0" anchor="t"/>
          <a:lstStyle/>
          <a:p>
            <a:pPr algn="l" indent="0" marL="0">
              <a:lnSpc>
                <a:spcPct val="115000"/>
              </a:lnSpc>
              <a:buNone/>
            </a:pPr>
            <a:r>
              <a:rPr lang="en-US" sz="1200" b="1" dirty="0">
                <a:solidFill>
                  <a:srgbClr val="5C6B7A"/>
                </a:solidFill>
                <a:latin typeface="Calibri" pitchFamily="34" charset="0"/>
                <a:ea typeface="Calibri" pitchFamily="34" charset="-122"/>
                <a:cs typeface="Calibri" pitchFamily="34" charset="-120"/>
              </a:rPr>
              <a:t>What pulled Supabase to $10.5B</a:t>
            </a:r>
            <a:endParaRPr lang="en-US" sz="1200" dirty="0"/>
          </a:p>
        </p:txBody>
      </p:sp>
      <p:sp>
        <p:nvSpPr>
          <p:cNvPr id="6" name="Text 4"/>
          <p:cNvSpPr txBox="1"/>
          <p:nvPr/>
        </p:nvSpPr>
        <p:spPr>
          <a:xfrm>
            <a:off x="822960" y="2606040"/>
            <a:ext cx="1188720" cy="365760"/>
          </a:xfrm>
          <a:prstGeom prst="rect">
            <a:avLst/>
          </a:prstGeom>
          <a:noFill/>
          <a:ln/>
        </p:spPr>
        <p:txBody>
          <a:bodyPr wrap="square" lIns="0" tIns="0" rIns="0" bIns="0" rtlCol="0" anchor="t"/>
          <a:lstStyle/>
          <a:p>
            <a:pPr algn="l" indent="0" marL="0">
              <a:lnSpc>
                <a:spcPct val="115000"/>
              </a:lnSpc>
              <a:buNone/>
            </a:pPr>
            <a:r>
              <a:rPr lang="en-US" sz="1900" b="1" spc="-100" kern="0" dirty="0">
                <a:solidFill>
                  <a:srgbClr val="172029"/>
                </a:solidFill>
                <a:latin typeface="Calibri" pitchFamily="34" charset="0"/>
                <a:ea typeface="Calibri" pitchFamily="34" charset="-122"/>
                <a:cs typeface="Calibri" pitchFamily="34" charset="-120"/>
              </a:rPr>
              <a:t>60%+</a:t>
            </a:r>
            <a:endParaRPr lang="en-US" sz="1900" dirty="0"/>
          </a:p>
        </p:txBody>
      </p:sp>
      <p:sp>
        <p:nvSpPr>
          <p:cNvPr id="7" name="Text 5"/>
          <p:cNvSpPr txBox="1"/>
          <p:nvPr/>
        </p:nvSpPr>
        <p:spPr>
          <a:xfrm>
            <a:off x="1965960" y="2624328"/>
            <a:ext cx="2011680" cy="77724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of new Supabase databases are launched by an AI tool, not a person (June 2026)</a:t>
            </a:r>
            <a:endParaRPr lang="en-US" sz="950" dirty="0"/>
          </a:p>
        </p:txBody>
      </p:sp>
      <p:sp>
        <p:nvSpPr>
          <p:cNvPr id="8" name="Text 6"/>
          <p:cNvSpPr txBox="1"/>
          <p:nvPr/>
        </p:nvSpPr>
        <p:spPr>
          <a:xfrm>
            <a:off x="822960" y="3429000"/>
            <a:ext cx="1188720" cy="365760"/>
          </a:xfrm>
          <a:prstGeom prst="rect">
            <a:avLst/>
          </a:prstGeom>
          <a:noFill/>
          <a:ln/>
        </p:spPr>
        <p:txBody>
          <a:bodyPr wrap="square" lIns="0" tIns="0" rIns="0" bIns="0" rtlCol="0" anchor="t"/>
          <a:lstStyle/>
          <a:p>
            <a:pPr algn="l" indent="0" marL="0">
              <a:lnSpc>
                <a:spcPct val="115000"/>
              </a:lnSpc>
              <a:buNone/>
            </a:pPr>
            <a:r>
              <a:rPr lang="en-US" sz="1900" b="1" spc="-100" kern="0" dirty="0">
                <a:solidFill>
                  <a:srgbClr val="172029"/>
                </a:solidFill>
                <a:latin typeface="Calibri" pitchFamily="34" charset="0"/>
                <a:ea typeface="Calibri" pitchFamily="34" charset="-122"/>
                <a:cs typeface="Calibri" pitchFamily="34" charset="-120"/>
              </a:rPr>
              <a:t>6×</a:t>
            </a:r>
            <a:endParaRPr lang="en-US" sz="1900" dirty="0"/>
          </a:p>
        </p:txBody>
      </p:sp>
      <p:sp>
        <p:nvSpPr>
          <p:cNvPr id="9" name="Text 7"/>
          <p:cNvSpPr txBox="1"/>
          <p:nvPr/>
        </p:nvSpPr>
        <p:spPr>
          <a:xfrm>
            <a:off x="1965960" y="3447288"/>
            <a:ext cx="2011680" cy="77724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year-over-year growth in databases, with agents the leading source of new projects</a:t>
            </a:r>
            <a:endParaRPr lang="en-US" sz="950" dirty="0"/>
          </a:p>
        </p:txBody>
      </p:sp>
      <p:sp>
        <p:nvSpPr>
          <p:cNvPr id="10" name="Text 8"/>
          <p:cNvSpPr txBox="1"/>
          <p:nvPr/>
        </p:nvSpPr>
        <p:spPr>
          <a:xfrm>
            <a:off x="822960" y="4251960"/>
            <a:ext cx="1188720" cy="365760"/>
          </a:xfrm>
          <a:prstGeom prst="rect">
            <a:avLst/>
          </a:prstGeom>
          <a:noFill/>
          <a:ln/>
        </p:spPr>
        <p:txBody>
          <a:bodyPr wrap="square" lIns="0" tIns="0" rIns="0" bIns="0" rtlCol="0" anchor="t"/>
          <a:lstStyle/>
          <a:p>
            <a:pPr algn="l" indent="0" marL="0">
              <a:lnSpc>
                <a:spcPct val="115000"/>
              </a:lnSpc>
              <a:buNone/>
            </a:pPr>
            <a:r>
              <a:rPr lang="en-US" sz="1900" b="1" spc="-100" kern="0" dirty="0">
                <a:solidFill>
                  <a:srgbClr val="172029"/>
                </a:solidFill>
                <a:latin typeface="Calibri" pitchFamily="34" charset="0"/>
                <a:ea typeface="Calibri" pitchFamily="34" charset="-122"/>
                <a:cs typeface="Calibri" pitchFamily="34" charset="-120"/>
              </a:rPr>
              <a:t>100K+</a:t>
            </a:r>
            <a:endParaRPr lang="en-US" sz="1900" dirty="0"/>
          </a:p>
        </p:txBody>
      </p:sp>
      <p:sp>
        <p:nvSpPr>
          <p:cNvPr id="11" name="Text 9"/>
          <p:cNvSpPr txBox="1"/>
          <p:nvPr/>
        </p:nvSpPr>
        <p:spPr>
          <a:xfrm>
            <a:off x="1965960" y="4270248"/>
            <a:ext cx="2011680" cy="77724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apps a day created on Lovable alone, each with a Supabase project owned by the user</a:t>
            </a:r>
            <a:endParaRPr lang="en-US" sz="950" dirty="0"/>
          </a:p>
        </p:txBody>
      </p:sp>
      <p:sp>
        <p:nvSpPr>
          <p:cNvPr id="12" name="Text 10"/>
          <p:cNvSpPr txBox="1"/>
          <p:nvPr/>
        </p:nvSpPr>
        <p:spPr>
          <a:xfrm>
            <a:off x="822960" y="5074920"/>
            <a:ext cx="1188720" cy="365760"/>
          </a:xfrm>
          <a:prstGeom prst="rect">
            <a:avLst/>
          </a:prstGeom>
          <a:noFill/>
          <a:ln/>
        </p:spPr>
        <p:txBody>
          <a:bodyPr wrap="square" lIns="0" tIns="0" rIns="0" bIns="0" rtlCol="0" anchor="t"/>
          <a:lstStyle/>
          <a:p>
            <a:pPr algn="l" indent="0" marL="0">
              <a:lnSpc>
                <a:spcPct val="115000"/>
              </a:lnSpc>
              <a:buNone/>
            </a:pPr>
            <a:r>
              <a:rPr lang="en-US" sz="1900" b="1" spc="-100" kern="0" dirty="0">
                <a:solidFill>
                  <a:srgbClr val="172029"/>
                </a:solidFill>
                <a:latin typeface="Calibri" pitchFamily="34" charset="0"/>
                <a:ea typeface="Calibri" pitchFamily="34" charset="-122"/>
                <a:cs typeface="Calibri" pitchFamily="34" charset="-120"/>
              </a:rPr>
              <a:t>MCP + API</a:t>
            </a:r>
            <a:endParaRPr lang="en-US" sz="1900" dirty="0"/>
          </a:p>
        </p:txBody>
      </p:sp>
      <p:sp>
        <p:nvSpPr>
          <p:cNvPr id="13" name="Text 11"/>
          <p:cNvSpPr txBox="1"/>
          <p:nvPr/>
        </p:nvSpPr>
        <p:spPr>
          <a:xfrm>
            <a:off x="1965960" y="5093208"/>
            <a:ext cx="2011680" cy="77724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an MCP server for agents in the loop; a platforms API so builders provision on the user's behalf</a:t>
            </a:r>
            <a:endParaRPr lang="en-US" sz="950" dirty="0"/>
          </a:p>
        </p:txBody>
      </p:sp>
      <p:sp>
        <p:nvSpPr>
          <p:cNvPr id="14" name="Shape 12"/>
          <p:cNvSpPr/>
          <p:nvPr/>
        </p:nvSpPr>
        <p:spPr>
          <a:xfrm>
            <a:off x="4434840" y="2103120"/>
            <a:ext cx="4023360" cy="3886200"/>
          </a:xfrm>
          <a:prstGeom prst="roundRect">
            <a:avLst>
              <a:gd name="adj" fmla="val 2824"/>
            </a:avLst>
          </a:prstGeom>
          <a:solidFill>
            <a:srgbClr val="0F1519"/>
          </a:solidFill>
          <a:ln w="9525">
            <a:solidFill>
              <a:srgbClr val="263140"/>
            </a:solidFill>
            <a:prstDash val="solid"/>
          </a:ln>
        </p:spPr>
      </p:sp>
      <p:sp>
        <p:nvSpPr>
          <p:cNvPr id="15" name="Text 13"/>
          <p:cNvSpPr txBox="1"/>
          <p:nvPr/>
        </p:nvSpPr>
        <p:spPr>
          <a:xfrm>
            <a:off x="4663440" y="2240280"/>
            <a:ext cx="3657600" cy="274320"/>
          </a:xfrm>
          <a:prstGeom prst="rect">
            <a:avLst/>
          </a:prstGeom>
          <a:noFill/>
          <a:ln/>
        </p:spPr>
        <p:txBody>
          <a:bodyPr wrap="square" lIns="0" tIns="0" rIns="0" bIns="0" rtlCol="0" anchor="t"/>
          <a:lstStyle/>
          <a:p>
            <a:pPr algn="l" indent="0" marL="0">
              <a:lnSpc>
                <a:spcPct val="115000"/>
              </a:lnSpc>
              <a:buNone/>
            </a:pPr>
            <a:r>
              <a:rPr lang="en-US" sz="900" b="1" dirty="0">
                <a:solidFill>
                  <a:srgbClr val="7F8C99"/>
                </a:solidFill>
                <a:latin typeface="Calibri" pitchFamily="34" charset="0"/>
                <a:ea typeface="Calibri" pitchFamily="34" charset="-122"/>
                <a:cs typeface="Calibri" pitchFamily="34" charset="-120"/>
              </a:rPr>
              <a:t>lakelet mcp  ·  one line in Claude Code, Cursor, Codex</a:t>
            </a:r>
            <a:endParaRPr lang="en-US" sz="900" dirty="0"/>
          </a:p>
        </p:txBody>
      </p:sp>
      <p:sp>
        <p:nvSpPr>
          <p:cNvPr id="16" name="Text 14"/>
          <p:cNvSpPr txBox="1"/>
          <p:nvPr/>
        </p:nvSpPr>
        <p:spPr>
          <a:xfrm>
            <a:off x="4663440" y="2560320"/>
            <a:ext cx="3657600" cy="640080"/>
          </a:xfrm>
          <a:prstGeom prst="rect">
            <a:avLst/>
          </a:prstGeom>
          <a:noFill/>
          <a:ln/>
        </p:spPr>
        <p:txBody>
          <a:bodyPr wrap="square" lIns="0" tIns="0" rIns="0" bIns="0" rtlCol="0" anchor="t"/>
          <a:lstStyle/>
          <a:p>
            <a:pPr algn="l" indent="0" marL="0">
              <a:lnSpc>
                <a:spcPct val="115000"/>
              </a:lnSpc>
              <a:buNone/>
            </a:pPr>
            <a:r>
              <a:rPr lang="en-US" sz="900" dirty="0">
                <a:solidFill>
                  <a:srgbClr val="C9D2DC"/>
                </a:solidFill>
                <a:latin typeface="Calibri" pitchFamily="34" charset="0"/>
                <a:ea typeface="Calibri" pitchFamily="34" charset="-122"/>
                <a:cs typeface="Calibri" pitchFamily="34" charset="-120"/>
              </a:rPr>
              <a:t>"lakelet": { "command": "lakelet", "args": ["mcp"],</a:t>
            </a:r>
            <a:endParaRPr lang="en-US" sz="900" dirty="0"/>
          </a:p>
          <a:p>
            <a:pPr algn="l" indent="0" marL="0">
              <a:lnSpc>
                <a:spcPct val="115000"/>
              </a:lnSpc>
              <a:buNone/>
            </a:pPr>
            <a:r>
              <a:rPr lang="en-US" sz="900" dirty="0">
                <a:solidFill>
                  <a:srgbClr val="C9D2DC"/>
                </a:solidFill>
                <a:latin typeface="Calibri" pitchFamily="34" charset="0"/>
                <a:ea typeface="Calibri" pitchFamily="34" charset="-122"/>
                <a:cs typeface="Calibri" pitchFamily="34" charset="-120"/>
              </a:rPr>
              <a:t>  "env": { "LAKELET_AGENT_CAP_USD": "2.00" } }</a:t>
            </a:r>
            <a:endParaRPr lang="en-US" sz="900" dirty="0"/>
          </a:p>
        </p:txBody>
      </p:sp>
      <p:sp>
        <p:nvSpPr>
          <p:cNvPr id="17" name="Text 15"/>
          <p:cNvSpPr txBox="1"/>
          <p:nvPr/>
        </p:nvSpPr>
        <p:spPr>
          <a:xfrm>
            <a:off x="4663440" y="3291840"/>
            <a:ext cx="3657600" cy="457200"/>
          </a:xfrm>
          <a:prstGeom prst="rect">
            <a:avLst/>
          </a:prstGeom>
          <a:noFill/>
          <a:ln/>
        </p:spPr>
        <p:txBody>
          <a:bodyPr wrap="square" lIns="0" tIns="0" rIns="0" bIns="0" rtlCol="0" anchor="t"/>
          <a:lstStyle/>
          <a:p>
            <a:pPr algn="l" indent="0" marL="0">
              <a:lnSpc>
                <a:spcPct val="115000"/>
              </a:lnSpc>
              <a:buNone/>
            </a:pPr>
            <a:r>
              <a:rPr lang="en-US" sz="850" dirty="0">
                <a:solidFill>
                  <a:srgbClr val="7FB3D5"/>
                </a:solidFill>
                <a:latin typeface="Calibri" pitchFamily="34" charset="0"/>
                <a:ea typeface="Calibri" pitchFamily="34" charset="-122"/>
                <a:cs typeface="Calibri" pitchFamily="34" charset="-120"/>
              </a:rPr>
              <a:t>tools  list_tables · describe · estimate · query · burst(cap) · save_question · lineage</a:t>
            </a:r>
            <a:endParaRPr lang="en-US" sz="850" dirty="0"/>
          </a:p>
        </p:txBody>
      </p:sp>
      <p:sp>
        <p:nvSpPr>
          <p:cNvPr id="18" name="Shape 16"/>
          <p:cNvSpPr/>
          <p:nvPr/>
        </p:nvSpPr>
        <p:spPr>
          <a:xfrm>
            <a:off x="4663440" y="4014216"/>
            <a:ext cx="109728" cy="109728"/>
          </a:xfrm>
          <a:prstGeom prst="ellipse">
            <a:avLst/>
          </a:prstGeom>
          <a:solidFill>
            <a:srgbClr val="D24B3A"/>
          </a:solidFill>
          <a:ln w="12700">
            <a:solidFill>
              <a:srgbClr val="D24B3A"/>
            </a:solidFill>
            <a:prstDash val="solid"/>
          </a:ln>
        </p:spPr>
      </p:sp>
      <p:sp>
        <p:nvSpPr>
          <p:cNvPr id="19" name="Text 17"/>
          <p:cNvSpPr txBox="1"/>
          <p:nvPr/>
        </p:nvSpPr>
        <p:spPr>
          <a:xfrm>
            <a:off x="4846320" y="3931920"/>
            <a:ext cx="2103120" cy="274320"/>
          </a:xfrm>
          <a:prstGeom prst="rect">
            <a:avLst/>
          </a:prstGeom>
          <a:noFill/>
          <a:ln/>
        </p:spPr>
        <p:txBody>
          <a:bodyPr wrap="square" lIns="0" tIns="0" rIns="0" bIns="0" rtlCol="0" anchor="t"/>
          <a:lstStyle/>
          <a:p>
            <a:pPr algn="l" indent="0" marL="0">
              <a:lnSpc>
                <a:spcPct val="115000"/>
              </a:lnSpc>
              <a:buNone/>
            </a:pPr>
            <a:r>
              <a:rPr lang="en-US" sz="850" dirty="0">
                <a:solidFill>
                  <a:srgbClr val="C9D2DC"/>
                </a:solidFill>
                <a:latin typeface="Calibri" pitchFamily="34" charset="0"/>
                <a:ea typeface="Calibri" pitchFamily="34" charset="-122"/>
                <a:cs typeface="Calibri" pitchFamily="34" charset="-120"/>
              </a:rPr>
              <a:t>agent:claude  estimate  dau_by_country</a:t>
            </a:r>
            <a:endParaRPr lang="en-US" sz="850" dirty="0"/>
          </a:p>
        </p:txBody>
      </p:sp>
      <p:sp>
        <p:nvSpPr>
          <p:cNvPr id="20" name="Text 18"/>
          <p:cNvSpPr txBox="1"/>
          <p:nvPr/>
        </p:nvSpPr>
        <p:spPr>
          <a:xfrm>
            <a:off x="6720840" y="3931920"/>
            <a:ext cx="1645920" cy="274320"/>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Calibri" pitchFamily="34" charset="0"/>
                <a:ea typeface="Calibri" pitchFamily="34" charset="-122"/>
                <a:cs typeface="Calibri" pitchFamily="34" charset="-120"/>
              </a:rPr>
              <a:t>Red · burst offered · cap $0.41</a:t>
            </a:r>
            <a:endParaRPr lang="en-US" sz="850" dirty="0"/>
          </a:p>
        </p:txBody>
      </p:sp>
      <p:sp>
        <p:nvSpPr>
          <p:cNvPr id="21" name="Shape 19"/>
          <p:cNvSpPr/>
          <p:nvPr/>
        </p:nvSpPr>
        <p:spPr>
          <a:xfrm>
            <a:off x="4663440" y="4471416"/>
            <a:ext cx="109728" cy="109728"/>
          </a:xfrm>
          <a:prstGeom prst="ellipse">
            <a:avLst/>
          </a:prstGeom>
          <a:solidFill>
            <a:srgbClr val="1F8A5B"/>
          </a:solidFill>
          <a:ln w="12700">
            <a:solidFill>
              <a:srgbClr val="1F8A5B"/>
            </a:solidFill>
            <a:prstDash val="solid"/>
          </a:ln>
        </p:spPr>
      </p:sp>
      <p:sp>
        <p:nvSpPr>
          <p:cNvPr id="22" name="Text 20"/>
          <p:cNvSpPr txBox="1"/>
          <p:nvPr/>
        </p:nvSpPr>
        <p:spPr>
          <a:xfrm>
            <a:off x="4846320" y="4389120"/>
            <a:ext cx="2103120" cy="274320"/>
          </a:xfrm>
          <a:prstGeom prst="rect">
            <a:avLst/>
          </a:prstGeom>
          <a:noFill/>
          <a:ln/>
        </p:spPr>
        <p:txBody>
          <a:bodyPr wrap="square" lIns="0" tIns="0" rIns="0" bIns="0" rtlCol="0" anchor="t"/>
          <a:lstStyle/>
          <a:p>
            <a:pPr algn="l" indent="0" marL="0">
              <a:lnSpc>
                <a:spcPct val="115000"/>
              </a:lnSpc>
              <a:buNone/>
            </a:pPr>
            <a:r>
              <a:rPr lang="en-US" sz="850" dirty="0">
                <a:solidFill>
                  <a:srgbClr val="C9D2DC"/>
                </a:solidFill>
                <a:latin typeface="Calibri" pitchFamily="34" charset="0"/>
                <a:ea typeface="Calibri" pitchFamily="34" charset="-122"/>
                <a:cs typeface="Calibri" pitchFamily="34" charset="-120"/>
              </a:rPr>
              <a:t>agent:claude  burst     dau_by_country</a:t>
            </a:r>
            <a:endParaRPr lang="en-US" sz="850" dirty="0"/>
          </a:p>
        </p:txBody>
      </p:sp>
      <p:sp>
        <p:nvSpPr>
          <p:cNvPr id="23" name="Text 21"/>
          <p:cNvSpPr txBox="1"/>
          <p:nvPr/>
        </p:nvSpPr>
        <p:spPr>
          <a:xfrm>
            <a:off x="6720840" y="4389120"/>
            <a:ext cx="1645920" cy="274320"/>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Calibri" pitchFamily="34" charset="0"/>
                <a:ea typeface="Calibri" pitchFamily="34" charset="-122"/>
                <a:cs typeface="Calibri" pitchFamily="34" charset="-120"/>
              </a:rPr>
              <a:t>done · 1 min 12 s · $0.19</a:t>
            </a:r>
            <a:endParaRPr lang="en-US" sz="850" dirty="0"/>
          </a:p>
        </p:txBody>
      </p:sp>
      <p:sp>
        <p:nvSpPr>
          <p:cNvPr id="24" name="Shape 22"/>
          <p:cNvSpPr/>
          <p:nvPr/>
        </p:nvSpPr>
        <p:spPr>
          <a:xfrm>
            <a:off x="4663440" y="4928616"/>
            <a:ext cx="109728" cy="109728"/>
          </a:xfrm>
          <a:prstGeom prst="ellipse">
            <a:avLst/>
          </a:prstGeom>
          <a:solidFill>
            <a:srgbClr val="1F8A5B"/>
          </a:solidFill>
          <a:ln w="12700">
            <a:solidFill>
              <a:srgbClr val="1F8A5B"/>
            </a:solidFill>
            <a:prstDash val="solid"/>
          </a:ln>
        </p:spPr>
      </p:sp>
      <p:sp>
        <p:nvSpPr>
          <p:cNvPr id="25" name="Text 23"/>
          <p:cNvSpPr txBox="1"/>
          <p:nvPr/>
        </p:nvSpPr>
        <p:spPr>
          <a:xfrm>
            <a:off x="4846320" y="4846320"/>
            <a:ext cx="2103120" cy="274320"/>
          </a:xfrm>
          <a:prstGeom prst="rect">
            <a:avLst/>
          </a:prstGeom>
          <a:noFill/>
          <a:ln/>
        </p:spPr>
        <p:txBody>
          <a:bodyPr wrap="square" lIns="0" tIns="0" rIns="0" bIns="0" rtlCol="0" anchor="t"/>
          <a:lstStyle/>
          <a:p>
            <a:pPr algn="l" indent="0" marL="0">
              <a:lnSpc>
                <a:spcPct val="115000"/>
              </a:lnSpc>
              <a:buNone/>
            </a:pPr>
            <a:r>
              <a:rPr lang="en-US" sz="850" dirty="0">
                <a:solidFill>
                  <a:srgbClr val="C9D2DC"/>
                </a:solidFill>
                <a:latin typeface="Calibri" pitchFamily="34" charset="0"/>
                <a:ea typeface="Calibri" pitchFamily="34" charset="-122"/>
                <a:cs typeface="Calibri" pitchFamily="34" charset="-120"/>
              </a:rPr>
              <a:t>agent:claude  query     top_customers</a:t>
            </a:r>
            <a:endParaRPr lang="en-US" sz="850" dirty="0"/>
          </a:p>
        </p:txBody>
      </p:sp>
      <p:sp>
        <p:nvSpPr>
          <p:cNvPr id="26" name="Text 24"/>
          <p:cNvSpPr txBox="1"/>
          <p:nvPr/>
        </p:nvSpPr>
        <p:spPr>
          <a:xfrm>
            <a:off x="6720840" y="4846320"/>
            <a:ext cx="1645920" cy="274320"/>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Calibri" pitchFamily="34" charset="0"/>
                <a:ea typeface="Calibri" pitchFamily="34" charset="-122"/>
                <a:cs typeface="Calibri" pitchFamily="34" charset="-120"/>
              </a:rPr>
              <a:t>Green · 1.8 s · $0.00</a:t>
            </a:r>
            <a:endParaRPr lang="en-US" sz="850" dirty="0"/>
          </a:p>
        </p:txBody>
      </p:sp>
      <p:sp>
        <p:nvSpPr>
          <p:cNvPr id="27" name="Shape 25"/>
          <p:cNvSpPr/>
          <p:nvPr/>
        </p:nvSpPr>
        <p:spPr>
          <a:xfrm>
            <a:off x="4663440" y="5385816"/>
            <a:ext cx="109728" cy="109728"/>
          </a:xfrm>
          <a:prstGeom prst="ellipse">
            <a:avLst/>
          </a:prstGeom>
          <a:solidFill>
            <a:srgbClr val="9AA8B6"/>
          </a:solidFill>
          <a:ln w="12700">
            <a:solidFill>
              <a:srgbClr val="9AA8B6"/>
            </a:solidFill>
            <a:prstDash val="solid"/>
          </a:ln>
        </p:spPr>
      </p:sp>
      <p:sp>
        <p:nvSpPr>
          <p:cNvPr id="28" name="Text 26"/>
          <p:cNvSpPr txBox="1"/>
          <p:nvPr/>
        </p:nvSpPr>
        <p:spPr>
          <a:xfrm>
            <a:off x="4846320" y="5303520"/>
            <a:ext cx="2103120" cy="274320"/>
          </a:xfrm>
          <a:prstGeom prst="rect">
            <a:avLst/>
          </a:prstGeom>
          <a:noFill/>
          <a:ln/>
        </p:spPr>
        <p:txBody>
          <a:bodyPr wrap="square" lIns="0" tIns="0" rIns="0" bIns="0" rtlCol="0" anchor="t"/>
          <a:lstStyle/>
          <a:p>
            <a:pPr algn="l" indent="0" marL="0">
              <a:lnSpc>
                <a:spcPct val="115000"/>
              </a:lnSpc>
              <a:buNone/>
            </a:pPr>
            <a:r>
              <a:rPr lang="en-US" sz="850" dirty="0">
                <a:solidFill>
                  <a:srgbClr val="C9D2DC"/>
                </a:solidFill>
                <a:latin typeface="Calibri" pitchFamily="34" charset="0"/>
                <a:ea typeface="Calibri" pitchFamily="34" charset="-122"/>
                <a:cs typeface="Calibri" pitchFamily="34" charset="-120"/>
              </a:rPr>
              <a:t>budget        today</a:t>
            </a:r>
            <a:endParaRPr lang="en-US" sz="850" dirty="0"/>
          </a:p>
        </p:txBody>
      </p:sp>
      <p:sp>
        <p:nvSpPr>
          <p:cNvPr id="29" name="Text 27"/>
          <p:cNvSpPr txBox="1"/>
          <p:nvPr/>
        </p:nvSpPr>
        <p:spPr>
          <a:xfrm>
            <a:off x="6720840" y="5303520"/>
            <a:ext cx="1645920" cy="274320"/>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Calibri" pitchFamily="34" charset="0"/>
                <a:ea typeface="Calibri" pitchFamily="34" charset="-122"/>
                <a:cs typeface="Calibri" pitchFamily="34" charset="-120"/>
              </a:rPr>
              <a:t>$0.19 of $2.00 · 3 calls · 0 refused</a:t>
            </a:r>
            <a:endParaRPr lang="en-US" sz="850" dirty="0"/>
          </a:p>
        </p:txBody>
      </p:sp>
      <p:sp>
        <p:nvSpPr>
          <p:cNvPr id="30" name="Shape 28"/>
          <p:cNvSpPr/>
          <p:nvPr/>
        </p:nvSpPr>
        <p:spPr>
          <a:xfrm>
            <a:off x="8686800" y="2103120"/>
            <a:ext cx="2953512" cy="868680"/>
          </a:xfrm>
          <a:prstGeom prst="roundRect">
            <a:avLst>
              <a:gd name="adj" fmla="val 12632"/>
            </a:avLst>
          </a:prstGeom>
          <a:solidFill>
            <a:srgbClr val="FFFFFF"/>
          </a:solidFill>
          <a:ln w="9525">
            <a:solidFill>
              <a:srgbClr val="D5DBE2"/>
            </a:solidFill>
            <a:prstDash val="solid"/>
          </a:ln>
        </p:spPr>
      </p:sp>
      <p:sp>
        <p:nvSpPr>
          <p:cNvPr id="31" name="Text 29"/>
          <p:cNvSpPr txBox="1"/>
          <p:nvPr/>
        </p:nvSpPr>
        <p:spPr>
          <a:xfrm>
            <a:off x="8869680" y="2194560"/>
            <a:ext cx="2651760" cy="274320"/>
          </a:xfrm>
          <a:prstGeom prst="rect">
            <a:avLst/>
          </a:prstGeom>
          <a:noFill/>
          <a:ln/>
        </p:spPr>
        <p:txBody>
          <a:bodyPr wrap="square" lIns="0" tIns="0" rIns="0" bIns="0" rtlCol="0" anchor="t"/>
          <a:lstStyle/>
          <a:p>
            <a:pPr algn="l" indent="0" marL="0">
              <a:lnSpc>
                <a:spcPct val="115000"/>
              </a:lnSpc>
              <a:buNone/>
            </a:pPr>
            <a:r>
              <a:rPr lang="en-US" sz="1150" b="1" dirty="0">
                <a:solidFill>
                  <a:srgbClr val="172029"/>
                </a:solidFill>
                <a:latin typeface="Calibri" pitchFamily="34" charset="0"/>
                <a:ea typeface="Calibri" pitchFamily="34" charset="-122"/>
                <a:cs typeface="Calibri" pitchFamily="34" charset="-120"/>
              </a:rPr>
              <a:t>Estimate before run</a:t>
            </a:r>
            <a:endParaRPr lang="en-US" sz="1150" dirty="0"/>
          </a:p>
        </p:txBody>
      </p:sp>
      <p:sp>
        <p:nvSpPr>
          <p:cNvPr id="32" name="Text 30"/>
          <p:cNvSpPr txBox="1"/>
          <p:nvPr/>
        </p:nvSpPr>
        <p:spPr>
          <a:xfrm>
            <a:off x="8869680" y="2450592"/>
            <a:ext cx="2651760" cy="502920"/>
          </a:xfrm>
          <a:prstGeom prst="rect">
            <a:avLst/>
          </a:prstGeom>
          <a:noFill/>
          <a:ln/>
        </p:spPr>
        <p:txBody>
          <a:bodyPr wrap="square" lIns="0" tIns="0" rIns="0" bIns="0" rtlCol="0" anchor="t"/>
          <a:lstStyle/>
          <a:p>
            <a:pPr algn="l" indent="0" marL="0">
              <a:lnSpc>
                <a:spcPct val="115000"/>
              </a:lnSpc>
              <a:buNone/>
            </a:pPr>
            <a:r>
              <a:rPr lang="en-US" sz="850" dirty="0">
                <a:solidFill>
                  <a:srgbClr val="5C6B7A"/>
                </a:solidFill>
                <a:latin typeface="Calibri" pitchFamily="34" charset="0"/>
                <a:ea typeface="Calibri" pitchFamily="34" charset="-122"/>
                <a:cs typeface="Calibri" pitchFamily="34" charset="-120"/>
              </a:rPr>
              <a:t>An agent asks the gauge first. Red comes back as a cost and a time it can reason about, not a bill.</a:t>
            </a:r>
            <a:endParaRPr lang="en-US" sz="850" dirty="0"/>
          </a:p>
        </p:txBody>
      </p:sp>
      <p:sp>
        <p:nvSpPr>
          <p:cNvPr id="33" name="Shape 31"/>
          <p:cNvSpPr/>
          <p:nvPr/>
        </p:nvSpPr>
        <p:spPr>
          <a:xfrm>
            <a:off x="8686800" y="3090672"/>
            <a:ext cx="2953512" cy="868680"/>
          </a:xfrm>
          <a:prstGeom prst="roundRect">
            <a:avLst>
              <a:gd name="adj" fmla="val 12632"/>
            </a:avLst>
          </a:prstGeom>
          <a:solidFill>
            <a:srgbClr val="FFFFFF"/>
          </a:solidFill>
          <a:ln w="9525">
            <a:solidFill>
              <a:srgbClr val="D5DBE2"/>
            </a:solidFill>
            <a:prstDash val="solid"/>
          </a:ln>
        </p:spPr>
      </p:sp>
      <p:sp>
        <p:nvSpPr>
          <p:cNvPr id="34" name="Text 32"/>
          <p:cNvSpPr txBox="1"/>
          <p:nvPr/>
        </p:nvSpPr>
        <p:spPr>
          <a:xfrm>
            <a:off x="8869680" y="3182112"/>
            <a:ext cx="2651760" cy="274320"/>
          </a:xfrm>
          <a:prstGeom prst="rect">
            <a:avLst/>
          </a:prstGeom>
          <a:noFill/>
          <a:ln/>
        </p:spPr>
        <p:txBody>
          <a:bodyPr wrap="square" lIns="0" tIns="0" rIns="0" bIns="0" rtlCol="0" anchor="t"/>
          <a:lstStyle/>
          <a:p>
            <a:pPr algn="l" indent="0" marL="0">
              <a:lnSpc>
                <a:spcPct val="115000"/>
              </a:lnSpc>
              <a:buNone/>
            </a:pPr>
            <a:r>
              <a:rPr lang="en-US" sz="1150" b="1" dirty="0">
                <a:solidFill>
                  <a:srgbClr val="172029"/>
                </a:solidFill>
                <a:latin typeface="Calibri" pitchFamily="34" charset="0"/>
                <a:ea typeface="Calibri" pitchFamily="34" charset="-122"/>
                <a:cs typeface="Calibri" pitchFamily="34" charset="-120"/>
              </a:rPr>
              <a:t>A cap per agent, per day</a:t>
            </a:r>
            <a:endParaRPr lang="en-US" sz="1150" dirty="0"/>
          </a:p>
        </p:txBody>
      </p:sp>
      <p:sp>
        <p:nvSpPr>
          <p:cNvPr id="35" name="Text 33"/>
          <p:cNvSpPr txBox="1"/>
          <p:nvPr/>
        </p:nvSpPr>
        <p:spPr>
          <a:xfrm>
            <a:off x="8869680" y="3438144"/>
            <a:ext cx="2651760" cy="502920"/>
          </a:xfrm>
          <a:prstGeom prst="rect">
            <a:avLst/>
          </a:prstGeom>
          <a:noFill/>
          <a:ln/>
        </p:spPr>
        <p:txBody>
          <a:bodyPr wrap="square" lIns="0" tIns="0" rIns="0" bIns="0" rtlCol="0" anchor="t"/>
          <a:lstStyle/>
          <a:p>
            <a:pPr algn="l" indent="0" marL="0">
              <a:lnSpc>
                <a:spcPct val="115000"/>
              </a:lnSpc>
              <a:buNone/>
            </a:pPr>
            <a:r>
              <a:rPr lang="en-US" sz="850" dirty="0">
                <a:solidFill>
                  <a:srgbClr val="5C6B7A"/>
                </a:solidFill>
                <a:latin typeface="Calibri" pitchFamily="34" charset="0"/>
                <a:ea typeface="Calibri" pitchFamily="34" charset="-122"/>
                <a:cs typeface="Calibri" pitchFamily="34" charset="-120"/>
              </a:rPr>
              <a:t>The worker enforces it; the control plane refuses calls past it. A loop cannot overspend.</a:t>
            </a:r>
            <a:endParaRPr lang="en-US" sz="850" dirty="0"/>
          </a:p>
        </p:txBody>
      </p:sp>
      <p:sp>
        <p:nvSpPr>
          <p:cNvPr id="36" name="Shape 34"/>
          <p:cNvSpPr/>
          <p:nvPr/>
        </p:nvSpPr>
        <p:spPr>
          <a:xfrm>
            <a:off x="8686800" y="4078224"/>
            <a:ext cx="2953512" cy="868680"/>
          </a:xfrm>
          <a:prstGeom prst="roundRect">
            <a:avLst>
              <a:gd name="adj" fmla="val 12632"/>
            </a:avLst>
          </a:prstGeom>
          <a:solidFill>
            <a:srgbClr val="FFFFFF"/>
          </a:solidFill>
          <a:ln w="9525">
            <a:solidFill>
              <a:srgbClr val="D5DBE2"/>
            </a:solidFill>
            <a:prstDash val="solid"/>
          </a:ln>
        </p:spPr>
      </p:sp>
      <p:sp>
        <p:nvSpPr>
          <p:cNvPr id="37" name="Text 35"/>
          <p:cNvSpPr txBox="1"/>
          <p:nvPr/>
        </p:nvSpPr>
        <p:spPr>
          <a:xfrm>
            <a:off x="8869680" y="4169664"/>
            <a:ext cx="2651760" cy="274320"/>
          </a:xfrm>
          <a:prstGeom prst="rect">
            <a:avLst/>
          </a:prstGeom>
          <a:noFill/>
          <a:ln/>
        </p:spPr>
        <p:txBody>
          <a:bodyPr wrap="square" lIns="0" tIns="0" rIns="0" bIns="0" rtlCol="0" anchor="t"/>
          <a:lstStyle/>
          <a:p>
            <a:pPr algn="l" indent="0" marL="0">
              <a:lnSpc>
                <a:spcPct val="115000"/>
              </a:lnSpc>
              <a:buNone/>
            </a:pPr>
            <a:r>
              <a:rPr lang="en-US" sz="1150" b="1" dirty="0">
                <a:solidFill>
                  <a:srgbClr val="172029"/>
                </a:solidFill>
                <a:latin typeface="Calibri" pitchFamily="34" charset="0"/>
                <a:ea typeface="Calibri" pitchFamily="34" charset="-122"/>
                <a:cs typeface="Calibri" pitchFamily="34" charset="-120"/>
              </a:rPr>
              <a:t>Everything in git</a:t>
            </a:r>
            <a:endParaRPr lang="en-US" sz="1150" dirty="0"/>
          </a:p>
        </p:txBody>
      </p:sp>
      <p:sp>
        <p:nvSpPr>
          <p:cNvPr id="38" name="Text 36"/>
          <p:cNvSpPr txBox="1"/>
          <p:nvPr/>
        </p:nvSpPr>
        <p:spPr>
          <a:xfrm>
            <a:off x="8869680" y="4425696"/>
            <a:ext cx="2651760" cy="502920"/>
          </a:xfrm>
          <a:prstGeom prst="rect">
            <a:avLst/>
          </a:prstGeom>
          <a:noFill/>
          <a:ln/>
        </p:spPr>
        <p:txBody>
          <a:bodyPr wrap="square" lIns="0" tIns="0" rIns="0" bIns="0" rtlCol="0" anchor="t"/>
          <a:lstStyle/>
          <a:p>
            <a:pPr algn="l" indent="0" marL="0">
              <a:lnSpc>
                <a:spcPct val="115000"/>
              </a:lnSpc>
              <a:buNone/>
            </a:pPr>
            <a:r>
              <a:rPr lang="en-US" sz="850" dirty="0">
                <a:solidFill>
                  <a:srgbClr val="5C6B7A"/>
                </a:solidFill>
                <a:latin typeface="Calibri" pitchFamily="34" charset="0"/>
                <a:ea typeface="Calibri" pitchFamily="34" charset="-122"/>
                <a:cs typeface="Calibri" pitchFamily="34" charset="-120"/>
              </a:rPr>
              <a:t>Agent-saved questions become dbt models with tests and a commit naming the agent. Review the diff.</a:t>
            </a:r>
            <a:endParaRPr lang="en-US" sz="850" dirty="0"/>
          </a:p>
        </p:txBody>
      </p:sp>
      <p:sp>
        <p:nvSpPr>
          <p:cNvPr id="39" name="Shape 37"/>
          <p:cNvSpPr/>
          <p:nvPr/>
        </p:nvSpPr>
        <p:spPr>
          <a:xfrm>
            <a:off x="8686800" y="5065776"/>
            <a:ext cx="2953512" cy="868680"/>
          </a:xfrm>
          <a:prstGeom prst="roundRect">
            <a:avLst>
              <a:gd name="adj" fmla="val 12632"/>
            </a:avLst>
          </a:prstGeom>
          <a:solidFill>
            <a:srgbClr val="FFFFFF"/>
          </a:solidFill>
          <a:ln w="9525">
            <a:solidFill>
              <a:srgbClr val="D5DBE2"/>
            </a:solidFill>
            <a:prstDash val="solid"/>
          </a:ln>
        </p:spPr>
      </p:sp>
      <p:sp>
        <p:nvSpPr>
          <p:cNvPr id="40" name="Text 38"/>
          <p:cNvSpPr txBox="1"/>
          <p:nvPr/>
        </p:nvSpPr>
        <p:spPr>
          <a:xfrm>
            <a:off x="8869680" y="5157216"/>
            <a:ext cx="2651760" cy="274320"/>
          </a:xfrm>
          <a:prstGeom prst="rect">
            <a:avLst/>
          </a:prstGeom>
          <a:noFill/>
          <a:ln/>
        </p:spPr>
        <p:txBody>
          <a:bodyPr wrap="square" lIns="0" tIns="0" rIns="0" bIns="0" rtlCol="0" anchor="t"/>
          <a:lstStyle/>
          <a:p>
            <a:pPr algn="l" indent="0" marL="0">
              <a:lnSpc>
                <a:spcPct val="115000"/>
              </a:lnSpc>
              <a:buNone/>
            </a:pPr>
            <a:r>
              <a:rPr lang="en-US" sz="1150" b="1" dirty="0">
                <a:solidFill>
                  <a:srgbClr val="172029"/>
                </a:solidFill>
                <a:latin typeface="Calibri" pitchFamily="34" charset="0"/>
                <a:ea typeface="Calibri" pitchFamily="34" charset="-122"/>
                <a:cs typeface="Calibri" pitchFamily="34" charset="-120"/>
              </a:rPr>
              <a:t>Local means local</a:t>
            </a:r>
            <a:endParaRPr lang="en-US" sz="1150" dirty="0"/>
          </a:p>
        </p:txBody>
      </p:sp>
      <p:sp>
        <p:nvSpPr>
          <p:cNvPr id="41" name="Text 39"/>
          <p:cNvSpPr txBox="1"/>
          <p:nvPr/>
        </p:nvSpPr>
        <p:spPr>
          <a:xfrm>
            <a:off x="8869680" y="5413248"/>
            <a:ext cx="2651760" cy="502920"/>
          </a:xfrm>
          <a:prstGeom prst="rect">
            <a:avLst/>
          </a:prstGeom>
          <a:noFill/>
          <a:ln/>
        </p:spPr>
        <p:txBody>
          <a:bodyPr wrap="square" lIns="0" tIns="0" rIns="0" bIns="0" rtlCol="0" anchor="t"/>
          <a:lstStyle/>
          <a:p>
            <a:pPr algn="l" indent="0" marL="0">
              <a:lnSpc>
                <a:spcPct val="115000"/>
              </a:lnSpc>
              <a:buNone/>
            </a:pPr>
            <a:r>
              <a:rPr lang="en-US" sz="850" dirty="0">
                <a:solidFill>
                  <a:srgbClr val="5C6B7A"/>
                </a:solidFill>
                <a:latin typeface="Calibri" pitchFamily="34" charset="0"/>
                <a:ea typeface="Calibri" pitchFamily="34" charset="-122"/>
                <a:cs typeface="Calibri" pitchFamily="34" charset="-120"/>
              </a:rPr>
              <a:t>Local model + local project: nothing leaves the laptop. The same privacy posture people get.</a:t>
            </a:r>
            <a:endParaRPr lang="en-US" sz="850" dirty="0"/>
          </a:p>
        </p:txBody>
      </p:sp>
      <p:sp>
        <p:nvSpPr>
          <p:cNvPr id="42" name="Text 40"/>
          <p:cNvSpPr txBox="1"/>
          <p:nvPr/>
        </p:nvSpPr>
        <p:spPr>
          <a:xfrm>
            <a:off x="548640" y="6126480"/>
            <a:ext cx="11091672" cy="36576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Then the platforms move: a provisioning API so AI app builders, whose users outgrow their app database and have no warehouse, spin up a lakehouse on the user's laptop with one call and never host it.</a:t>
            </a:r>
            <a:endParaRPr lang="en-US" sz="1050" dirty="0"/>
          </a:p>
        </p:txBody>
      </p:sp>
      <p:sp>
        <p:nvSpPr>
          <p:cNvPr id="43" name="Text 41"/>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44" name="Text 42"/>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Data stays in your bucket. Lakelet's cloud holds metadata only.</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One rule from one laptop to a company: files stay in your bucket, the catalog is the only thing that moves, and anything that leaves your machine is something you turned on.</a:t>
            </a:r>
            <a:endParaRPr lang="en-US" sz="1600" dirty="0"/>
          </a:p>
        </p:txBody>
      </p:sp>
      <p:sp>
        <p:nvSpPr>
          <p:cNvPr id="4" name="Shape 2"/>
          <p:cNvSpPr/>
          <p:nvPr/>
        </p:nvSpPr>
        <p:spPr>
          <a:xfrm>
            <a:off x="548640" y="2148840"/>
            <a:ext cx="3520440" cy="3246120"/>
          </a:xfrm>
          <a:prstGeom prst="roundRect">
            <a:avLst>
              <a:gd name="adj" fmla="val 3380"/>
            </a:avLst>
          </a:prstGeom>
          <a:solidFill>
            <a:srgbClr val="FFFFFF"/>
          </a:solidFill>
          <a:ln w="9525">
            <a:solidFill>
              <a:srgbClr val="D5DBE2"/>
            </a:solidFill>
            <a:prstDash val="solid"/>
          </a:ln>
        </p:spPr>
      </p:sp>
      <p:sp>
        <p:nvSpPr>
          <p:cNvPr id="5" name="Shape 3"/>
          <p:cNvSpPr/>
          <p:nvPr/>
        </p:nvSpPr>
        <p:spPr>
          <a:xfrm>
            <a:off x="822960" y="2377440"/>
            <a:ext cx="146304" cy="146304"/>
          </a:xfrm>
          <a:prstGeom prst="roundRect">
            <a:avLst>
              <a:gd name="adj" fmla="val 18750"/>
            </a:avLst>
          </a:prstGeom>
          <a:solidFill>
            <a:srgbClr val="172029"/>
          </a:solidFill>
          <a:ln w="12700">
            <a:solidFill>
              <a:srgbClr val="172029"/>
            </a:solidFill>
            <a:prstDash val="solid"/>
          </a:ln>
        </p:spPr>
      </p:sp>
      <p:sp>
        <p:nvSpPr>
          <p:cNvPr id="6" name="Text 4"/>
          <p:cNvSpPr txBox="1"/>
          <p:nvPr/>
        </p:nvSpPr>
        <p:spPr>
          <a:xfrm>
            <a:off x="1097280" y="2304288"/>
            <a:ext cx="2834640" cy="320040"/>
          </a:xfrm>
          <a:prstGeom prst="rect">
            <a:avLst/>
          </a:prstGeom>
          <a:noFill/>
          <a:ln/>
        </p:spPr>
        <p:txBody>
          <a:bodyPr wrap="square" lIns="0" tIns="0" rIns="0" bIns="0" rtlCol="0" anchor="t"/>
          <a:lstStyle/>
          <a:p>
            <a:pPr algn="l" indent="0" marL="0">
              <a:lnSpc>
                <a:spcPct val="115000"/>
              </a:lnSpc>
              <a:buNone/>
            </a:pPr>
            <a:r>
              <a:rPr lang="en-US" sz="1500" b="1" dirty="0">
                <a:solidFill>
                  <a:srgbClr val="172029"/>
                </a:solidFill>
                <a:latin typeface="Calibri" pitchFamily="34" charset="0"/>
                <a:ea typeface="Calibri" pitchFamily="34" charset="-122"/>
                <a:cs typeface="Calibri" pitchFamily="34" charset="-120"/>
              </a:rPr>
              <a:t>Solo · free</a:t>
            </a:r>
            <a:endParaRPr lang="en-US" sz="1500" dirty="0"/>
          </a:p>
        </p:txBody>
      </p:sp>
      <p:sp>
        <p:nvSpPr>
          <p:cNvPr id="7" name="Text 5"/>
          <p:cNvSpPr txBox="1"/>
          <p:nvPr/>
        </p:nvSpPr>
        <p:spPr>
          <a:xfrm>
            <a:off x="822960" y="2788920"/>
            <a:ext cx="3017520" cy="246888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App, DuckDB, gauge on the laptop</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SQLite catalog in the project</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Optional: your own S3 bucket</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Burst: job spec to Lakelet, worker in your region</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Zero network calls until you add a bucket or key</a:t>
            </a:r>
            <a:endParaRPr lang="en-US" sz="1100" dirty="0"/>
          </a:p>
        </p:txBody>
      </p:sp>
      <p:sp>
        <p:nvSpPr>
          <p:cNvPr id="8" name="Shape 6"/>
          <p:cNvSpPr/>
          <p:nvPr/>
        </p:nvSpPr>
        <p:spPr>
          <a:xfrm>
            <a:off x="4297680" y="2148840"/>
            <a:ext cx="3520440" cy="3246120"/>
          </a:xfrm>
          <a:prstGeom prst="roundRect">
            <a:avLst>
              <a:gd name="adj" fmla="val 3380"/>
            </a:avLst>
          </a:prstGeom>
          <a:solidFill>
            <a:srgbClr val="FFFFFF"/>
          </a:solidFill>
          <a:ln w="9525">
            <a:solidFill>
              <a:srgbClr val="D5DBE2"/>
            </a:solidFill>
            <a:prstDash val="solid"/>
          </a:ln>
        </p:spPr>
      </p:sp>
      <p:sp>
        <p:nvSpPr>
          <p:cNvPr id="9" name="Shape 7"/>
          <p:cNvSpPr/>
          <p:nvPr/>
        </p:nvSpPr>
        <p:spPr>
          <a:xfrm>
            <a:off x="4572000" y="2377440"/>
            <a:ext cx="146304" cy="146304"/>
          </a:xfrm>
          <a:prstGeom prst="roundRect">
            <a:avLst>
              <a:gd name="adj" fmla="val 18750"/>
            </a:avLst>
          </a:prstGeom>
          <a:solidFill>
            <a:srgbClr val="3F5F92"/>
          </a:solidFill>
          <a:ln w="12700">
            <a:solidFill>
              <a:srgbClr val="3F5F92"/>
            </a:solidFill>
            <a:prstDash val="solid"/>
          </a:ln>
        </p:spPr>
      </p:sp>
      <p:sp>
        <p:nvSpPr>
          <p:cNvPr id="10" name="Text 8"/>
          <p:cNvSpPr txBox="1"/>
          <p:nvPr/>
        </p:nvSpPr>
        <p:spPr>
          <a:xfrm>
            <a:off x="4846320" y="2304288"/>
            <a:ext cx="2834640" cy="320040"/>
          </a:xfrm>
          <a:prstGeom prst="rect">
            <a:avLst/>
          </a:prstGeom>
          <a:noFill/>
          <a:ln/>
        </p:spPr>
        <p:txBody>
          <a:bodyPr wrap="square" lIns="0" tIns="0" rIns="0" bIns="0" rtlCol="0" anchor="t"/>
          <a:lstStyle/>
          <a:p>
            <a:pPr algn="l" indent="0" marL="0">
              <a:lnSpc>
                <a:spcPct val="115000"/>
              </a:lnSpc>
              <a:buNone/>
            </a:pPr>
            <a:r>
              <a:rPr lang="en-US" sz="1500" b="1" dirty="0">
                <a:solidFill>
                  <a:srgbClr val="172029"/>
                </a:solidFill>
                <a:latin typeface="Calibri" pitchFamily="34" charset="0"/>
                <a:ea typeface="Calibri" pitchFamily="34" charset="-122"/>
                <a:cs typeface="Calibri" pitchFamily="34" charset="-120"/>
              </a:rPr>
              <a:t>Team · $24 / seat</a:t>
            </a:r>
            <a:endParaRPr lang="en-US" sz="1500" dirty="0"/>
          </a:p>
        </p:txBody>
      </p:sp>
      <p:sp>
        <p:nvSpPr>
          <p:cNvPr id="11" name="Text 9"/>
          <p:cNvSpPr txBox="1"/>
          <p:nvPr/>
        </p:nvSpPr>
        <p:spPr>
          <a:xfrm>
            <a:off x="4572000" y="2788920"/>
            <a:ext cx="3017520" cy="246888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Same catalog, hosted on Postgres</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Holds table metadata and roles; vends 15-min prefix-scoped credentials</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SQL and dbt models in your git remote</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Scheduled runs and compaction on workers in your account</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Laptops still run most queries locally</a:t>
            </a:r>
            <a:endParaRPr lang="en-US" sz="1100" dirty="0"/>
          </a:p>
        </p:txBody>
      </p:sp>
      <p:sp>
        <p:nvSpPr>
          <p:cNvPr id="12" name="Shape 10"/>
          <p:cNvSpPr/>
          <p:nvPr/>
        </p:nvSpPr>
        <p:spPr>
          <a:xfrm>
            <a:off x="8046720" y="2148840"/>
            <a:ext cx="3520440" cy="3246120"/>
          </a:xfrm>
          <a:prstGeom prst="roundRect">
            <a:avLst>
              <a:gd name="adj" fmla="val 3380"/>
            </a:avLst>
          </a:prstGeom>
          <a:solidFill>
            <a:srgbClr val="FFFFFF"/>
          </a:solidFill>
          <a:ln w="9525">
            <a:solidFill>
              <a:srgbClr val="D5DBE2"/>
            </a:solidFill>
            <a:prstDash val="solid"/>
          </a:ln>
        </p:spPr>
      </p:sp>
      <p:sp>
        <p:nvSpPr>
          <p:cNvPr id="13" name="Shape 11"/>
          <p:cNvSpPr/>
          <p:nvPr/>
        </p:nvSpPr>
        <p:spPr>
          <a:xfrm>
            <a:off x="8321040" y="2377440"/>
            <a:ext cx="146304" cy="146304"/>
          </a:xfrm>
          <a:prstGeom prst="roundRect">
            <a:avLst>
              <a:gd name="adj" fmla="val 18750"/>
            </a:avLst>
          </a:prstGeom>
          <a:solidFill>
            <a:srgbClr val="1F8A5B"/>
          </a:solidFill>
          <a:ln w="12700">
            <a:solidFill>
              <a:srgbClr val="1F8A5B"/>
            </a:solidFill>
            <a:prstDash val="solid"/>
          </a:ln>
        </p:spPr>
      </p:sp>
      <p:sp>
        <p:nvSpPr>
          <p:cNvPr id="14" name="Text 12"/>
          <p:cNvSpPr txBox="1"/>
          <p:nvPr/>
        </p:nvSpPr>
        <p:spPr>
          <a:xfrm>
            <a:off x="8595360" y="2304288"/>
            <a:ext cx="2834640" cy="320040"/>
          </a:xfrm>
          <a:prstGeom prst="rect">
            <a:avLst/>
          </a:prstGeom>
          <a:noFill/>
          <a:ln/>
        </p:spPr>
        <p:txBody>
          <a:bodyPr wrap="square" lIns="0" tIns="0" rIns="0" bIns="0" rtlCol="0" anchor="t"/>
          <a:lstStyle/>
          <a:p>
            <a:pPr algn="l" indent="0" marL="0">
              <a:lnSpc>
                <a:spcPct val="115000"/>
              </a:lnSpc>
              <a:buNone/>
            </a:pPr>
            <a:r>
              <a:rPr lang="en-US" sz="1500" b="1" dirty="0">
                <a:solidFill>
                  <a:srgbClr val="172029"/>
                </a:solidFill>
                <a:latin typeface="Calibri" pitchFamily="34" charset="0"/>
                <a:ea typeface="Calibri" pitchFamily="34" charset="-122"/>
                <a:cs typeface="Calibri" pitchFamily="34" charset="-120"/>
              </a:rPr>
              <a:t>Self-hosted · from $25K</a:t>
            </a:r>
            <a:endParaRPr lang="en-US" sz="1500" dirty="0"/>
          </a:p>
        </p:txBody>
      </p:sp>
      <p:sp>
        <p:nvSpPr>
          <p:cNvPr id="15" name="Text 13"/>
          <p:cNvSpPr txBox="1"/>
          <p:nvPr/>
        </p:nvSpPr>
        <p:spPr>
          <a:xfrm>
            <a:off x="8321040" y="2788920"/>
            <a:ext cx="3017520" cy="246888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Catalog and control plane in your VPC</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SSO from your IdP; audit to your SIEM</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Prompts to your own model endpoint</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Workers launch in each bucket's region</a:t>
            </a:r>
            <a:endParaRPr lang="en-US" sz="1100" dirty="0"/>
          </a:p>
          <a:p>
            <a:pPr marL="342900" indent="-342900">
              <a:spcAft>
                <a:spcPts val="500"/>
              </a:spcAft>
              <a:buSzPct val="100000"/>
              <a:buChar char="•"/>
            </a:pPr>
            <a:r>
              <a:rPr lang="en-US" sz="1100" dirty="0">
                <a:solidFill>
                  <a:srgbClr val="5C6B7A"/>
                </a:solidFill>
                <a:latin typeface="Calibri" pitchFamily="34" charset="0"/>
                <a:ea typeface="Calibri" pitchFamily="34" charset="-122"/>
                <a:cs typeface="Calibri" pitchFamily="34" charset="-120"/>
              </a:rPr>
              <a:t>Lakelet sees a licence and a version</a:t>
            </a:r>
            <a:endParaRPr lang="en-US" sz="1100" dirty="0"/>
          </a:p>
        </p:txBody>
      </p:sp>
      <p:sp>
        <p:nvSpPr>
          <p:cNvPr id="16" name="Text 14"/>
          <p:cNvSpPr txBox="1"/>
          <p:nvPr/>
        </p:nvSpPr>
        <p:spPr>
          <a:xfrm>
            <a:off x="548640" y="5623560"/>
            <a:ext cx="11091672" cy="365760"/>
          </a:xfrm>
          <a:prstGeom prst="rect">
            <a:avLst/>
          </a:prstGeom>
          <a:noFill/>
          <a:ln/>
        </p:spPr>
        <p:txBody>
          <a:bodyPr wrap="square" lIns="0" tIns="0" rIns="0" bIns="0" rtlCol="0" anchor="t"/>
          <a:lstStyle/>
          <a:p>
            <a:pPr algn="l" indent="0" marL="0">
              <a:lnSpc>
                <a:spcPct val="115000"/>
              </a:lnSpc>
              <a:buNone/>
            </a:pPr>
            <a:r>
              <a:rPr lang="en-US" sz="1100" dirty="0">
                <a:solidFill>
                  <a:srgbClr val="5C6B7A"/>
                </a:solidFill>
                <a:latin typeface="Calibri" pitchFamily="34" charset="0"/>
                <a:ea typeface="Calibri" pitchFamily="34" charset="-122"/>
                <a:cs typeface="Calibri" pitchFamily="34" charset="-120"/>
              </a:rPr>
              <a:t>Green: your device or your cloud account. Blue: Lakelet-hosted, metadata only. Your data files are in the green column in every setup.</a:t>
            </a:r>
            <a:endParaRPr lang="en-US" sz="1100" dirty="0"/>
          </a:p>
        </p:txBody>
      </p:sp>
      <p:sp>
        <p:nvSpPr>
          <p:cNvPr id="17" name="Text 15"/>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18" name="Text 16"/>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Priced like a tool, not like a meter.</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Free locally. Revenue from shared catalogs and from compute customers borrow, with a hard cap per run.</a:t>
            </a:r>
            <a:endParaRPr lang="en-US" sz="1600" dirty="0"/>
          </a:p>
        </p:txBody>
      </p:sp>
      <p:sp>
        <p:nvSpPr>
          <p:cNvPr id="4" name="Shape 2"/>
          <p:cNvSpPr/>
          <p:nvPr/>
        </p:nvSpPr>
        <p:spPr>
          <a:xfrm>
            <a:off x="548640" y="2148840"/>
            <a:ext cx="5669280" cy="1097280"/>
          </a:xfrm>
          <a:prstGeom prst="roundRect">
            <a:avLst>
              <a:gd name="adj" fmla="val 10000"/>
            </a:avLst>
          </a:prstGeom>
          <a:solidFill>
            <a:srgbClr val="FFFFFF"/>
          </a:solidFill>
          <a:ln w="9525">
            <a:solidFill>
              <a:srgbClr val="D5DBE2"/>
            </a:solidFill>
            <a:prstDash val="solid"/>
          </a:ln>
        </p:spPr>
      </p:sp>
      <p:sp>
        <p:nvSpPr>
          <p:cNvPr id="5" name="Text 3"/>
          <p:cNvSpPr txBox="1"/>
          <p:nvPr/>
        </p:nvSpPr>
        <p:spPr>
          <a:xfrm>
            <a:off x="822960" y="2350008"/>
            <a:ext cx="1280160" cy="365760"/>
          </a:xfrm>
          <a:prstGeom prst="rect">
            <a:avLst/>
          </a:prstGeom>
          <a:noFill/>
          <a:ln/>
        </p:spPr>
        <p:txBody>
          <a:bodyPr wrap="square" lIns="0" tIns="0" rIns="0" bIns="0" rtlCol="0" anchor="t"/>
          <a:lstStyle/>
          <a:p>
            <a:pPr algn="l" indent="0" marL="0">
              <a:lnSpc>
                <a:spcPct val="115000"/>
              </a:lnSpc>
              <a:buNone/>
            </a:pPr>
            <a:r>
              <a:rPr lang="en-US" sz="1800" b="1" dirty="0">
                <a:solidFill>
                  <a:srgbClr val="172029"/>
                </a:solidFill>
                <a:latin typeface="Calibri" pitchFamily="34" charset="0"/>
                <a:ea typeface="Calibri" pitchFamily="34" charset="-122"/>
                <a:cs typeface="Calibri" pitchFamily="34" charset="-120"/>
              </a:rPr>
              <a:t>Local</a:t>
            </a:r>
            <a:endParaRPr lang="en-US" sz="1800" dirty="0"/>
          </a:p>
        </p:txBody>
      </p:sp>
      <p:sp>
        <p:nvSpPr>
          <p:cNvPr id="6" name="Text 4"/>
          <p:cNvSpPr txBox="1"/>
          <p:nvPr/>
        </p:nvSpPr>
        <p:spPr>
          <a:xfrm>
            <a:off x="2148840" y="2377440"/>
            <a:ext cx="1737360" cy="365760"/>
          </a:xfrm>
          <a:prstGeom prst="rect">
            <a:avLst/>
          </a:prstGeom>
          <a:noFill/>
          <a:ln/>
        </p:spPr>
        <p:txBody>
          <a:bodyPr wrap="square" lIns="0" tIns="0" rIns="0" bIns="0" rtlCol="0" anchor="t"/>
          <a:lstStyle/>
          <a:p>
            <a:pPr algn="l" indent="0" marL="0">
              <a:lnSpc>
                <a:spcPct val="115000"/>
              </a:lnSpc>
              <a:buNone/>
            </a:pPr>
            <a:r>
              <a:rPr lang="en-US" sz="1500" b="1" dirty="0">
                <a:solidFill>
                  <a:srgbClr val="2A3542"/>
                </a:solidFill>
                <a:latin typeface="Calibri" pitchFamily="34" charset="0"/>
                <a:ea typeface="Calibri" pitchFamily="34" charset="-122"/>
                <a:cs typeface="Calibri" pitchFamily="34" charset="-120"/>
              </a:rPr>
              <a:t>$0</a:t>
            </a:r>
            <a:endParaRPr lang="en-US" sz="1500" dirty="0"/>
          </a:p>
        </p:txBody>
      </p:sp>
      <p:sp>
        <p:nvSpPr>
          <p:cNvPr id="7" name="Text 5"/>
          <p:cNvSpPr txBox="1"/>
          <p:nvPr/>
        </p:nvSpPr>
        <p:spPr>
          <a:xfrm>
            <a:off x="3794760" y="2331720"/>
            <a:ext cx="2240280" cy="822960"/>
          </a:xfrm>
          <a:prstGeom prst="rect">
            <a:avLst/>
          </a:prstGeom>
          <a:noFill/>
          <a:ln/>
        </p:spPr>
        <p:txBody>
          <a:bodyPr wrap="square" lIns="0" tIns="0" rIns="0" bIns="0" rtlCol="0" anchor="t"/>
          <a:lstStyle/>
          <a:p>
            <a:pPr algn="l" indent="0" marL="0">
              <a:lnSpc>
                <a:spcPct val="115000"/>
              </a:lnSpc>
              <a:buNone/>
            </a:pPr>
            <a:r>
              <a:rPr lang="en-US" sz="1100" dirty="0">
                <a:solidFill>
                  <a:srgbClr val="5C6B7A"/>
                </a:solidFill>
                <a:latin typeface="Calibri" pitchFamily="34" charset="0"/>
                <a:ea typeface="Calibri" pitchFamily="34" charset="-122"/>
                <a:cs typeface="Calibri" pitchFamily="34" charset="-120"/>
              </a:rPr>
              <a:t>Desktop app and CLI. Editor, dbt runner, lineage, pre-flight check. Bring your own bucket. Open source, forever.</a:t>
            </a:r>
            <a:endParaRPr lang="en-US" sz="1100" dirty="0"/>
          </a:p>
        </p:txBody>
      </p:sp>
      <p:sp>
        <p:nvSpPr>
          <p:cNvPr id="8" name="Shape 6"/>
          <p:cNvSpPr/>
          <p:nvPr/>
        </p:nvSpPr>
        <p:spPr>
          <a:xfrm>
            <a:off x="548640" y="3429000"/>
            <a:ext cx="5669280" cy="1097280"/>
          </a:xfrm>
          <a:prstGeom prst="roundRect">
            <a:avLst>
              <a:gd name="adj" fmla="val 10000"/>
            </a:avLst>
          </a:prstGeom>
          <a:solidFill>
            <a:srgbClr val="FFFFFF"/>
          </a:solidFill>
          <a:ln w="9525">
            <a:solidFill>
              <a:srgbClr val="D5DBE2"/>
            </a:solidFill>
            <a:prstDash val="solid"/>
          </a:ln>
        </p:spPr>
      </p:sp>
      <p:sp>
        <p:nvSpPr>
          <p:cNvPr id="9" name="Text 7"/>
          <p:cNvSpPr txBox="1"/>
          <p:nvPr/>
        </p:nvSpPr>
        <p:spPr>
          <a:xfrm>
            <a:off x="822960" y="3630168"/>
            <a:ext cx="1280160" cy="365760"/>
          </a:xfrm>
          <a:prstGeom prst="rect">
            <a:avLst/>
          </a:prstGeom>
          <a:noFill/>
          <a:ln/>
        </p:spPr>
        <p:txBody>
          <a:bodyPr wrap="square" lIns="0" tIns="0" rIns="0" bIns="0" rtlCol="0" anchor="t"/>
          <a:lstStyle/>
          <a:p>
            <a:pPr algn="l" indent="0" marL="0">
              <a:lnSpc>
                <a:spcPct val="115000"/>
              </a:lnSpc>
              <a:buNone/>
            </a:pPr>
            <a:r>
              <a:rPr lang="en-US" sz="1800" b="1" dirty="0">
                <a:solidFill>
                  <a:srgbClr val="172029"/>
                </a:solidFill>
                <a:latin typeface="Calibri" pitchFamily="34" charset="0"/>
                <a:ea typeface="Calibri" pitchFamily="34" charset="-122"/>
                <a:cs typeface="Calibri" pitchFamily="34" charset="-120"/>
              </a:rPr>
              <a:t>Team</a:t>
            </a:r>
            <a:endParaRPr lang="en-US" sz="1800" dirty="0"/>
          </a:p>
        </p:txBody>
      </p:sp>
      <p:sp>
        <p:nvSpPr>
          <p:cNvPr id="10" name="Text 8"/>
          <p:cNvSpPr txBox="1"/>
          <p:nvPr/>
        </p:nvSpPr>
        <p:spPr>
          <a:xfrm>
            <a:off x="2148840" y="3657600"/>
            <a:ext cx="1737360" cy="365760"/>
          </a:xfrm>
          <a:prstGeom prst="rect">
            <a:avLst/>
          </a:prstGeom>
          <a:noFill/>
          <a:ln/>
        </p:spPr>
        <p:txBody>
          <a:bodyPr wrap="square" lIns="0" tIns="0" rIns="0" bIns="0" rtlCol="0" anchor="t"/>
          <a:lstStyle/>
          <a:p>
            <a:pPr algn="l" indent="0" marL="0">
              <a:lnSpc>
                <a:spcPct val="115000"/>
              </a:lnSpc>
              <a:buNone/>
            </a:pPr>
            <a:r>
              <a:rPr lang="en-US" sz="1500" b="1" dirty="0">
                <a:solidFill>
                  <a:srgbClr val="2A3542"/>
                </a:solidFill>
                <a:latin typeface="Calibri" pitchFamily="34" charset="0"/>
                <a:ea typeface="Calibri" pitchFamily="34" charset="-122"/>
                <a:cs typeface="Calibri" pitchFamily="34" charset="-120"/>
              </a:rPr>
              <a:t>$24 / seat / mo</a:t>
            </a:r>
            <a:endParaRPr lang="en-US" sz="1500" dirty="0"/>
          </a:p>
        </p:txBody>
      </p:sp>
      <p:sp>
        <p:nvSpPr>
          <p:cNvPr id="11" name="Text 9"/>
          <p:cNvSpPr txBox="1"/>
          <p:nvPr/>
        </p:nvSpPr>
        <p:spPr>
          <a:xfrm>
            <a:off x="3794760" y="3611880"/>
            <a:ext cx="2240280" cy="822960"/>
          </a:xfrm>
          <a:prstGeom prst="rect">
            <a:avLst/>
          </a:prstGeom>
          <a:noFill/>
          <a:ln/>
        </p:spPr>
        <p:txBody>
          <a:bodyPr wrap="square" lIns="0" tIns="0" rIns="0" bIns="0" rtlCol="0" anchor="t"/>
          <a:lstStyle/>
          <a:p>
            <a:pPr algn="l" indent="0" marL="0">
              <a:lnSpc>
                <a:spcPct val="115000"/>
              </a:lnSpc>
              <a:buNone/>
            </a:pPr>
            <a:r>
              <a:rPr lang="en-US" sz="1100" dirty="0">
                <a:solidFill>
                  <a:srgbClr val="5C6B7A"/>
                </a:solidFill>
                <a:latin typeface="Calibri" pitchFamily="34" charset="0"/>
                <a:ea typeface="Calibri" pitchFamily="34" charset="-122"/>
                <a:cs typeface="Calibri" pitchFamily="34" charset="-120"/>
              </a:rPr>
              <a:t>Shared catalog across laptops. Scheduled runs, compaction, snapshot expiry, freshness and test alerts.</a:t>
            </a:r>
            <a:endParaRPr lang="en-US" sz="1100" dirty="0"/>
          </a:p>
        </p:txBody>
      </p:sp>
      <p:sp>
        <p:nvSpPr>
          <p:cNvPr id="12" name="Shape 10"/>
          <p:cNvSpPr/>
          <p:nvPr/>
        </p:nvSpPr>
        <p:spPr>
          <a:xfrm>
            <a:off x="548640" y="4709160"/>
            <a:ext cx="5669280" cy="1097280"/>
          </a:xfrm>
          <a:prstGeom prst="roundRect">
            <a:avLst>
              <a:gd name="adj" fmla="val 10000"/>
            </a:avLst>
          </a:prstGeom>
          <a:solidFill>
            <a:srgbClr val="FFFFFF"/>
          </a:solidFill>
          <a:ln w="9525">
            <a:solidFill>
              <a:srgbClr val="D5DBE2"/>
            </a:solidFill>
            <a:prstDash val="solid"/>
          </a:ln>
        </p:spPr>
      </p:sp>
      <p:sp>
        <p:nvSpPr>
          <p:cNvPr id="13" name="Text 11"/>
          <p:cNvSpPr txBox="1"/>
          <p:nvPr/>
        </p:nvSpPr>
        <p:spPr>
          <a:xfrm>
            <a:off x="822960" y="4910328"/>
            <a:ext cx="1280160" cy="365760"/>
          </a:xfrm>
          <a:prstGeom prst="rect">
            <a:avLst/>
          </a:prstGeom>
          <a:noFill/>
          <a:ln/>
        </p:spPr>
        <p:txBody>
          <a:bodyPr wrap="square" lIns="0" tIns="0" rIns="0" bIns="0" rtlCol="0" anchor="t"/>
          <a:lstStyle/>
          <a:p>
            <a:pPr algn="l" indent="0" marL="0">
              <a:lnSpc>
                <a:spcPct val="115000"/>
              </a:lnSpc>
              <a:buNone/>
            </a:pPr>
            <a:r>
              <a:rPr lang="en-US" sz="1800" b="1" dirty="0">
                <a:solidFill>
                  <a:srgbClr val="172029"/>
                </a:solidFill>
                <a:latin typeface="Calibri" pitchFamily="34" charset="0"/>
                <a:ea typeface="Calibri" pitchFamily="34" charset="-122"/>
                <a:cs typeface="Calibri" pitchFamily="34" charset="-120"/>
              </a:rPr>
              <a:t>Burst</a:t>
            </a:r>
            <a:endParaRPr lang="en-US" sz="1800" dirty="0"/>
          </a:p>
        </p:txBody>
      </p:sp>
      <p:sp>
        <p:nvSpPr>
          <p:cNvPr id="14" name="Text 12"/>
          <p:cNvSpPr txBox="1"/>
          <p:nvPr/>
        </p:nvSpPr>
        <p:spPr>
          <a:xfrm>
            <a:off x="2148840" y="4937760"/>
            <a:ext cx="1737360" cy="365760"/>
          </a:xfrm>
          <a:prstGeom prst="rect">
            <a:avLst/>
          </a:prstGeom>
          <a:noFill/>
          <a:ln/>
        </p:spPr>
        <p:txBody>
          <a:bodyPr wrap="square" lIns="0" tIns="0" rIns="0" bIns="0" rtlCol="0" anchor="t"/>
          <a:lstStyle/>
          <a:p>
            <a:pPr algn="l" indent="0" marL="0">
              <a:lnSpc>
                <a:spcPct val="115000"/>
              </a:lnSpc>
              <a:buNone/>
            </a:pPr>
            <a:r>
              <a:rPr lang="en-US" sz="1500" b="1" dirty="0">
                <a:solidFill>
                  <a:srgbClr val="2A3542"/>
                </a:solidFill>
                <a:latin typeface="Calibri" pitchFamily="34" charset="0"/>
                <a:ea typeface="Calibri" pitchFamily="34" charset="-122"/>
                <a:cs typeface="Calibri" pitchFamily="34" charset="-120"/>
              </a:rPr>
              <a:t>Cost + 15%</a:t>
            </a:r>
            <a:endParaRPr lang="en-US" sz="1500" dirty="0"/>
          </a:p>
        </p:txBody>
      </p:sp>
      <p:sp>
        <p:nvSpPr>
          <p:cNvPr id="15" name="Text 13"/>
          <p:cNvSpPr txBox="1"/>
          <p:nvPr/>
        </p:nvSpPr>
        <p:spPr>
          <a:xfrm>
            <a:off x="3794760" y="4892040"/>
            <a:ext cx="2240280" cy="822960"/>
          </a:xfrm>
          <a:prstGeom prst="rect">
            <a:avLst/>
          </a:prstGeom>
          <a:noFill/>
          <a:ln/>
        </p:spPr>
        <p:txBody>
          <a:bodyPr wrap="square" lIns="0" tIns="0" rIns="0" bIns="0" rtlCol="0" anchor="t"/>
          <a:lstStyle/>
          <a:p>
            <a:pPr algn="l" indent="0" marL="0">
              <a:lnSpc>
                <a:spcPct val="115000"/>
              </a:lnSpc>
              <a:buNone/>
            </a:pPr>
            <a:r>
              <a:rPr lang="en-US" sz="1100" dirty="0">
                <a:solidFill>
                  <a:srgbClr val="5C6B7A"/>
                </a:solidFill>
                <a:latin typeface="Calibri" pitchFamily="34" charset="0"/>
                <a:ea typeface="Calibri" pitchFamily="34" charset="-122"/>
                <a:cs typeface="Calibri" pitchFamily="34" charset="-120"/>
              </a:rPr>
              <a:t>Spot workers sized to the run, on the customer's cloud account. Never idle. Cap agreed before it starts.</a:t>
            </a:r>
            <a:endParaRPr lang="en-US" sz="1100" dirty="0"/>
          </a:p>
        </p:txBody>
      </p:sp>
      <p:sp>
        <p:nvSpPr>
          <p:cNvPr id="16" name="Shape 14"/>
          <p:cNvSpPr/>
          <p:nvPr/>
        </p:nvSpPr>
        <p:spPr>
          <a:xfrm>
            <a:off x="6675120" y="2148840"/>
            <a:ext cx="4965192" cy="3657600"/>
          </a:xfrm>
          <a:prstGeom prst="roundRect">
            <a:avLst>
              <a:gd name="adj" fmla="val 3000"/>
            </a:avLst>
          </a:prstGeom>
          <a:solidFill>
            <a:srgbClr val="FFFFFF"/>
          </a:solidFill>
          <a:ln w="9525">
            <a:solidFill>
              <a:srgbClr val="D5DBE2"/>
            </a:solidFill>
            <a:prstDash val="solid"/>
          </a:ln>
        </p:spPr>
      </p:sp>
      <p:sp>
        <p:nvSpPr>
          <p:cNvPr id="17" name="Text 15"/>
          <p:cNvSpPr txBox="1"/>
          <p:nvPr/>
        </p:nvSpPr>
        <p:spPr>
          <a:xfrm>
            <a:off x="6949440" y="2286000"/>
            <a:ext cx="4572000" cy="274320"/>
          </a:xfrm>
          <a:prstGeom prst="rect">
            <a:avLst/>
          </a:prstGeom>
          <a:noFill/>
          <a:ln/>
        </p:spPr>
        <p:txBody>
          <a:bodyPr wrap="square" lIns="0" tIns="0" rIns="0" bIns="0" rtlCol="0" anchor="t"/>
          <a:lstStyle/>
          <a:p>
            <a:pPr algn="l" indent="0" marL="0">
              <a:lnSpc>
                <a:spcPct val="115000"/>
              </a:lnSpc>
              <a:buNone/>
            </a:pPr>
            <a:r>
              <a:rPr lang="en-US" sz="1200" b="1" dirty="0">
                <a:solidFill>
                  <a:srgbClr val="5C6B7A"/>
                </a:solidFill>
                <a:latin typeface="Calibri" pitchFamily="34" charset="0"/>
                <a:ea typeface="Calibri" pitchFamily="34" charset="-122"/>
                <a:cs typeface="Calibri" pitchFamily="34" charset="-120"/>
              </a:rPr>
              <a:t>Monthly cost, team of five, 38 GB, 1,240 dbt runs</a:t>
            </a:r>
            <a:endParaRPr lang="en-US" sz="1200" dirty="0"/>
          </a:p>
        </p:txBody>
      </p:sp>
      <p:sp>
        <p:nvSpPr>
          <p:cNvPr id="18" name="Shape 16"/>
          <p:cNvSpPr/>
          <p:nvPr/>
        </p:nvSpPr>
        <p:spPr>
          <a:xfrm>
            <a:off x="7040880" y="4983480"/>
            <a:ext cx="4206240" cy="0"/>
          </a:xfrm>
          <a:prstGeom prst="line">
            <a:avLst/>
          </a:prstGeom>
          <a:noFill/>
          <a:ln w="12700">
            <a:solidFill>
              <a:srgbClr val="D5DBE2"/>
            </a:solidFill>
            <a:prstDash val="solid"/>
          </a:ln>
        </p:spPr>
      </p:sp>
      <p:sp>
        <p:nvSpPr>
          <p:cNvPr id="19" name="Shape 17"/>
          <p:cNvSpPr/>
          <p:nvPr/>
        </p:nvSpPr>
        <p:spPr>
          <a:xfrm>
            <a:off x="7498080" y="2926080"/>
            <a:ext cx="1417320" cy="2057400"/>
          </a:xfrm>
          <a:prstGeom prst="rect">
            <a:avLst/>
          </a:prstGeom>
          <a:solidFill>
            <a:srgbClr val="5C6B7A"/>
          </a:solidFill>
          <a:ln w="12700">
            <a:solidFill>
              <a:srgbClr val="5C6B7A"/>
            </a:solidFill>
            <a:prstDash val="solid"/>
          </a:ln>
        </p:spPr>
      </p:sp>
      <p:sp>
        <p:nvSpPr>
          <p:cNvPr id="20" name="Text 18"/>
          <p:cNvSpPr txBox="1"/>
          <p:nvPr/>
        </p:nvSpPr>
        <p:spPr>
          <a:xfrm>
            <a:off x="7223760" y="2606040"/>
            <a:ext cx="1965960" cy="320040"/>
          </a:xfrm>
          <a:prstGeom prst="rect">
            <a:avLst/>
          </a:prstGeom>
          <a:noFill/>
          <a:ln/>
        </p:spPr>
        <p:txBody>
          <a:bodyPr wrap="square" lIns="0" tIns="0" rIns="0" bIns="0" rtlCol="0" anchor="b"/>
          <a:lstStyle/>
          <a:p>
            <a:pPr algn="ctr" indent="0" marL="0">
              <a:lnSpc>
                <a:spcPct val="115000"/>
              </a:lnSpc>
              <a:buNone/>
            </a:pPr>
            <a:r>
              <a:rPr lang="en-US" sz="1200" b="1" dirty="0">
                <a:solidFill>
                  <a:srgbClr val="172029"/>
                </a:solidFill>
                <a:latin typeface="Calibri" pitchFamily="34" charset="0"/>
                <a:ea typeface="Calibri" pitchFamily="34" charset="-122"/>
                <a:cs typeface="Calibri" pitchFamily="34" charset="-120"/>
              </a:rPr>
              <a:t>$4,212</a:t>
            </a:r>
            <a:endParaRPr lang="en-US" sz="1200" dirty="0"/>
          </a:p>
        </p:txBody>
      </p:sp>
      <p:sp>
        <p:nvSpPr>
          <p:cNvPr id="21" name="Text 19"/>
          <p:cNvSpPr txBox="1"/>
          <p:nvPr/>
        </p:nvSpPr>
        <p:spPr>
          <a:xfrm>
            <a:off x="7223760" y="5029200"/>
            <a:ext cx="1965960" cy="365760"/>
          </a:xfrm>
          <a:prstGeom prst="rect">
            <a:avLst/>
          </a:prstGeom>
          <a:noFill/>
          <a:ln/>
        </p:spPr>
        <p:txBody>
          <a:bodyPr wrap="square" lIns="0" tIns="0" rIns="0" bIns="0" rtlCol="0" anchor="t"/>
          <a:lstStyle/>
          <a:p>
            <a:pPr algn="ctr" indent="0" marL="0">
              <a:lnSpc>
                <a:spcPct val="115000"/>
              </a:lnSpc>
              <a:buNone/>
            </a:pPr>
            <a:r>
              <a:rPr lang="en-US" sz="1100" dirty="0">
                <a:solidFill>
                  <a:srgbClr val="172029"/>
                </a:solidFill>
                <a:latin typeface="Calibri" pitchFamily="34" charset="0"/>
                <a:ea typeface="Calibri" pitchFamily="34" charset="-122"/>
                <a:cs typeface="Calibri" pitchFamily="34" charset="-120"/>
              </a:rPr>
              <a:t>Cloud warehouse</a:t>
            </a:r>
            <a:endParaRPr lang="en-US" sz="1100" dirty="0"/>
          </a:p>
        </p:txBody>
      </p:sp>
      <p:sp>
        <p:nvSpPr>
          <p:cNvPr id="22" name="Shape 20"/>
          <p:cNvSpPr/>
          <p:nvPr/>
        </p:nvSpPr>
        <p:spPr>
          <a:xfrm>
            <a:off x="9372600" y="4922911"/>
            <a:ext cx="1417320" cy="60569"/>
          </a:xfrm>
          <a:prstGeom prst="rect">
            <a:avLst/>
          </a:prstGeom>
          <a:solidFill>
            <a:srgbClr val="1F8A5B"/>
          </a:solidFill>
          <a:ln w="12700">
            <a:solidFill>
              <a:srgbClr val="1F8A5B"/>
            </a:solidFill>
            <a:prstDash val="solid"/>
          </a:ln>
        </p:spPr>
      </p:sp>
      <p:sp>
        <p:nvSpPr>
          <p:cNvPr id="23" name="Text 21"/>
          <p:cNvSpPr txBox="1"/>
          <p:nvPr/>
        </p:nvSpPr>
        <p:spPr>
          <a:xfrm>
            <a:off x="9098280" y="4602871"/>
            <a:ext cx="1965960" cy="320040"/>
          </a:xfrm>
          <a:prstGeom prst="rect">
            <a:avLst/>
          </a:prstGeom>
          <a:noFill/>
          <a:ln/>
        </p:spPr>
        <p:txBody>
          <a:bodyPr wrap="square" lIns="0" tIns="0" rIns="0" bIns="0" rtlCol="0" anchor="b"/>
          <a:lstStyle/>
          <a:p>
            <a:pPr algn="ctr" indent="0" marL="0">
              <a:lnSpc>
                <a:spcPct val="115000"/>
              </a:lnSpc>
              <a:buNone/>
            </a:pPr>
            <a:r>
              <a:rPr lang="en-US" sz="1200" b="1" dirty="0">
                <a:solidFill>
                  <a:srgbClr val="172029"/>
                </a:solidFill>
                <a:latin typeface="Calibri" pitchFamily="34" charset="0"/>
                <a:ea typeface="Calibri" pitchFamily="34" charset="-122"/>
                <a:cs typeface="Calibri" pitchFamily="34" charset="-120"/>
              </a:rPr>
              <a:t>$124</a:t>
            </a:r>
            <a:endParaRPr lang="en-US" sz="1200" dirty="0"/>
          </a:p>
        </p:txBody>
      </p:sp>
      <p:sp>
        <p:nvSpPr>
          <p:cNvPr id="24" name="Text 22"/>
          <p:cNvSpPr txBox="1"/>
          <p:nvPr/>
        </p:nvSpPr>
        <p:spPr>
          <a:xfrm>
            <a:off x="9098280" y="5029200"/>
            <a:ext cx="1965960" cy="365760"/>
          </a:xfrm>
          <a:prstGeom prst="rect">
            <a:avLst/>
          </a:prstGeom>
          <a:noFill/>
          <a:ln/>
        </p:spPr>
        <p:txBody>
          <a:bodyPr wrap="square" lIns="0" tIns="0" rIns="0" bIns="0" rtlCol="0" anchor="t"/>
          <a:lstStyle/>
          <a:p>
            <a:pPr algn="ctr" indent="0" marL="0">
              <a:lnSpc>
                <a:spcPct val="115000"/>
              </a:lnSpc>
              <a:buNone/>
            </a:pPr>
            <a:r>
              <a:rPr lang="en-US" sz="1100" dirty="0">
                <a:solidFill>
                  <a:srgbClr val="172029"/>
                </a:solidFill>
                <a:latin typeface="Calibri" pitchFamily="34" charset="0"/>
                <a:ea typeface="Calibri" pitchFamily="34" charset="-122"/>
                <a:cs typeface="Calibri" pitchFamily="34" charset="-120"/>
              </a:rPr>
              <a:t>Lakelet</a:t>
            </a:r>
            <a:endParaRPr lang="en-US" sz="1100" dirty="0"/>
          </a:p>
        </p:txBody>
      </p:sp>
      <p:sp>
        <p:nvSpPr>
          <p:cNvPr id="25" name="Text 23"/>
          <p:cNvSpPr txBox="1"/>
          <p:nvPr/>
        </p:nvSpPr>
        <p:spPr>
          <a:xfrm>
            <a:off x="6949440" y="5440680"/>
            <a:ext cx="4572000" cy="274320"/>
          </a:xfrm>
          <a:prstGeom prst="rect">
            <a:avLst/>
          </a:prstGeom>
          <a:noFill/>
          <a:ln/>
        </p:spPr>
        <p:txBody>
          <a:bodyPr wrap="square" lIns="0" tIns="0" rIns="0" bIns="0" rtlCol="0" anchor="t"/>
          <a:lstStyle/>
          <a:p>
            <a:pPr algn="l" indent="0" marL="0">
              <a:lnSpc>
                <a:spcPct val="115000"/>
              </a:lnSpc>
              <a:buNone/>
            </a:pPr>
            <a:r>
              <a:rPr lang="en-US" sz="1100" dirty="0">
                <a:solidFill>
                  <a:srgbClr val="5C6B7A"/>
                </a:solidFill>
                <a:latin typeface="Calibri" pitchFamily="34" charset="0"/>
                <a:ea typeface="Calibri" pitchFamily="34" charset="-122"/>
                <a:cs typeface="Calibri" pitchFamily="34" charset="-120"/>
              </a:rPr>
              <a:t>Lakelet: $120 Team seats, $3.40 for 9 burst runs, $0.87 of S3.</a:t>
            </a:r>
            <a:endParaRPr lang="en-US" sz="1100" dirty="0"/>
          </a:p>
        </p:txBody>
      </p:sp>
      <p:sp>
        <p:nvSpPr>
          <p:cNvPr id="26" name="Text 24"/>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27" name="Text 25"/>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Where the incumbents are weak is exactly where small teams live.</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Scored 1–5 by the founding team on six axes a sub-terabyte team cares about. Directional, not measured; the receipt on slide 2 is the measured version of the first axis.</a:t>
            </a:r>
            <a:endParaRPr lang="en-US" sz="1600" dirty="0"/>
          </a:p>
        </p:txBody>
      </p:sp>
      <p:pic>
        <p:nvPicPr>
          <p:cNvPr id="4" name="Image 0" descr="preencoded.png">    </p:cNvPr>
          <p:cNvPicPr>
            <a:picLocks noChangeAspect="1"/>
          </p:cNvPicPr>
          <p:nvPr/>
        </p:nvPicPr>
        <p:blipFill>
          <a:blip r:embed="rId1"/>
          <a:stretch>
            <a:fillRect/>
          </a:stretch>
        </p:blipFill>
        <p:spPr>
          <a:xfrm>
            <a:off x="548640" y="2148840"/>
            <a:ext cx="4846320" cy="3566160"/>
          </a:xfrm>
          <a:prstGeom prst="rect">
            <a:avLst/>
          </a:prstGeom>
        </p:spPr>
      </p:pic>
      <p:sp>
        <p:nvSpPr>
          <p:cNvPr id="5" name="Shape 2"/>
          <p:cNvSpPr/>
          <p:nvPr/>
        </p:nvSpPr>
        <p:spPr>
          <a:xfrm>
            <a:off x="5486400" y="2350008"/>
            <a:ext cx="256032" cy="128016"/>
          </a:xfrm>
          <a:prstGeom prst="roundRect">
            <a:avLst>
              <a:gd name="adj" fmla="val 35714"/>
            </a:avLst>
          </a:prstGeom>
          <a:solidFill>
            <a:srgbClr val="1F8A5B"/>
          </a:solidFill>
          <a:ln w="12700">
            <a:solidFill>
              <a:srgbClr val="1F8A5B"/>
            </a:solidFill>
            <a:prstDash val="solid"/>
          </a:ln>
        </p:spPr>
      </p:sp>
      <p:sp>
        <p:nvSpPr>
          <p:cNvPr id="6" name="Text 3"/>
          <p:cNvSpPr txBox="1"/>
          <p:nvPr/>
        </p:nvSpPr>
        <p:spPr>
          <a:xfrm>
            <a:off x="5806440" y="2286000"/>
            <a:ext cx="1097280" cy="274320"/>
          </a:xfrm>
          <a:prstGeom prst="rect">
            <a:avLst/>
          </a:prstGeom>
          <a:noFill/>
          <a:ln/>
        </p:spPr>
        <p:txBody>
          <a:bodyPr wrap="square" lIns="0" tIns="0" rIns="0" bIns="0" rtlCol="0" anchor="t"/>
          <a:lstStyle/>
          <a:p>
            <a:pPr algn="l" indent="0" marL="0">
              <a:lnSpc>
                <a:spcPct val="115000"/>
              </a:lnSpc>
              <a:buNone/>
            </a:pPr>
            <a:r>
              <a:rPr lang="en-US" sz="1100" b="1" dirty="0">
                <a:solidFill>
                  <a:srgbClr val="172029"/>
                </a:solidFill>
                <a:latin typeface="Calibri" pitchFamily="34" charset="0"/>
                <a:ea typeface="Calibri" pitchFamily="34" charset="-122"/>
                <a:cs typeface="Calibri" pitchFamily="34" charset="-120"/>
              </a:rPr>
              <a:t>Lakelet</a:t>
            </a:r>
            <a:endParaRPr lang="en-US" sz="1100" dirty="0"/>
          </a:p>
        </p:txBody>
      </p:sp>
      <p:sp>
        <p:nvSpPr>
          <p:cNvPr id="7" name="Shape 4"/>
          <p:cNvSpPr/>
          <p:nvPr/>
        </p:nvSpPr>
        <p:spPr>
          <a:xfrm>
            <a:off x="5486400" y="2697480"/>
            <a:ext cx="256032" cy="128016"/>
          </a:xfrm>
          <a:prstGeom prst="roundRect">
            <a:avLst>
              <a:gd name="adj" fmla="val 35714"/>
            </a:avLst>
          </a:prstGeom>
          <a:solidFill>
            <a:srgbClr val="C98A12"/>
          </a:solidFill>
          <a:ln w="12700">
            <a:solidFill>
              <a:srgbClr val="C98A12"/>
            </a:solidFill>
            <a:prstDash val="solid"/>
          </a:ln>
        </p:spPr>
      </p:sp>
      <p:sp>
        <p:nvSpPr>
          <p:cNvPr id="8" name="Text 5"/>
          <p:cNvSpPr txBox="1"/>
          <p:nvPr/>
        </p:nvSpPr>
        <p:spPr>
          <a:xfrm>
            <a:off x="5806440" y="2633472"/>
            <a:ext cx="1097280" cy="274320"/>
          </a:xfrm>
          <a:prstGeom prst="rect">
            <a:avLst/>
          </a:prstGeom>
          <a:noFill/>
          <a:ln/>
        </p:spPr>
        <p:txBody>
          <a:bodyPr wrap="square" lIns="0" tIns="0" rIns="0" bIns="0" rtlCol="0" anchor="t"/>
          <a:lstStyle/>
          <a:p>
            <a:pPr algn="l" indent="0" marL="0">
              <a:lnSpc>
                <a:spcPct val="115000"/>
              </a:lnSpc>
              <a:buNone/>
            </a:pPr>
            <a:r>
              <a:rPr lang="en-US" sz="1100" dirty="0">
                <a:solidFill>
                  <a:srgbClr val="172029"/>
                </a:solidFill>
                <a:latin typeface="Calibri" pitchFamily="34" charset="0"/>
                <a:ea typeface="Calibri" pitchFamily="34" charset="-122"/>
                <a:cs typeface="Calibri" pitchFamily="34" charset="-120"/>
              </a:rPr>
              <a:t>MotherDuck</a:t>
            </a:r>
            <a:endParaRPr lang="en-US" sz="1100" dirty="0"/>
          </a:p>
        </p:txBody>
      </p:sp>
      <p:sp>
        <p:nvSpPr>
          <p:cNvPr id="9" name="Shape 6"/>
          <p:cNvSpPr/>
          <p:nvPr/>
        </p:nvSpPr>
        <p:spPr>
          <a:xfrm>
            <a:off x="5486400" y="3044952"/>
            <a:ext cx="256032" cy="128016"/>
          </a:xfrm>
          <a:prstGeom prst="roundRect">
            <a:avLst>
              <a:gd name="adj" fmla="val 35714"/>
            </a:avLst>
          </a:prstGeom>
          <a:solidFill>
            <a:srgbClr val="5C6B7A"/>
          </a:solidFill>
          <a:ln w="12700">
            <a:solidFill>
              <a:srgbClr val="5C6B7A"/>
            </a:solidFill>
            <a:prstDash val="solid"/>
          </a:ln>
        </p:spPr>
      </p:sp>
      <p:sp>
        <p:nvSpPr>
          <p:cNvPr id="10" name="Text 7"/>
          <p:cNvSpPr txBox="1"/>
          <p:nvPr/>
        </p:nvSpPr>
        <p:spPr>
          <a:xfrm>
            <a:off x="5806440" y="2980944"/>
            <a:ext cx="1097280" cy="274320"/>
          </a:xfrm>
          <a:prstGeom prst="rect">
            <a:avLst/>
          </a:prstGeom>
          <a:noFill/>
          <a:ln/>
        </p:spPr>
        <p:txBody>
          <a:bodyPr wrap="square" lIns="0" tIns="0" rIns="0" bIns="0" rtlCol="0" anchor="t"/>
          <a:lstStyle/>
          <a:p>
            <a:pPr algn="l" indent="0" marL="0">
              <a:lnSpc>
                <a:spcPct val="115000"/>
              </a:lnSpc>
              <a:buNone/>
            </a:pPr>
            <a:r>
              <a:rPr lang="en-US" sz="1100" dirty="0">
                <a:solidFill>
                  <a:srgbClr val="172029"/>
                </a:solidFill>
                <a:latin typeface="Calibri" pitchFamily="34" charset="0"/>
                <a:ea typeface="Calibri" pitchFamily="34" charset="-122"/>
                <a:cs typeface="Calibri" pitchFamily="34" charset="-120"/>
              </a:rPr>
              <a:t>Snowflake</a:t>
            </a:r>
            <a:endParaRPr lang="en-US" sz="1100" dirty="0"/>
          </a:p>
        </p:txBody>
      </p:sp>
      <p:sp>
        <p:nvSpPr>
          <p:cNvPr id="11" name="Shape 8"/>
          <p:cNvSpPr/>
          <p:nvPr/>
        </p:nvSpPr>
        <p:spPr>
          <a:xfrm>
            <a:off x="5486400" y="3392424"/>
            <a:ext cx="256032" cy="128016"/>
          </a:xfrm>
          <a:prstGeom prst="roundRect">
            <a:avLst>
              <a:gd name="adj" fmla="val 35714"/>
            </a:avLst>
          </a:prstGeom>
          <a:solidFill>
            <a:srgbClr val="9AA8B6"/>
          </a:solidFill>
          <a:ln w="12700">
            <a:solidFill>
              <a:srgbClr val="9AA8B6"/>
            </a:solidFill>
            <a:prstDash val="solid"/>
          </a:ln>
        </p:spPr>
      </p:sp>
      <p:sp>
        <p:nvSpPr>
          <p:cNvPr id="12" name="Text 9"/>
          <p:cNvSpPr txBox="1"/>
          <p:nvPr/>
        </p:nvSpPr>
        <p:spPr>
          <a:xfrm>
            <a:off x="5806440" y="3328416"/>
            <a:ext cx="1097280" cy="274320"/>
          </a:xfrm>
          <a:prstGeom prst="rect">
            <a:avLst/>
          </a:prstGeom>
          <a:noFill/>
          <a:ln/>
        </p:spPr>
        <p:txBody>
          <a:bodyPr wrap="square" lIns="0" tIns="0" rIns="0" bIns="0" rtlCol="0" anchor="t"/>
          <a:lstStyle/>
          <a:p>
            <a:pPr algn="l" indent="0" marL="0">
              <a:lnSpc>
                <a:spcPct val="115000"/>
              </a:lnSpc>
              <a:buNone/>
            </a:pPr>
            <a:r>
              <a:rPr lang="en-US" sz="1100" dirty="0">
                <a:solidFill>
                  <a:srgbClr val="172029"/>
                </a:solidFill>
                <a:latin typeface="Calibri" pitchFamily="34" charset="0"/>
                <a:ea typeface="Calibri" pitchFamily="34" charset="-122"/>
                <a:cs typeface="Calibri" pitchFamily="34" charset="-120"/>
              </a:rPr>
              <a:t>Databricks</a:t>
            </a:r>
            <a:endParaRPr lang="en-US" sz="1100" dirty="0"/>
          </a:p>
        </p:txBody>
      </p:sp>
      <p:sp>
        <p:nvSpPr>
          <p:cNvPr id="13" name="Text 10"/>
          <p:cNvSpPr txBox="1"/>
          <p:nvPr/>
        </p:nvSpPr>
        <p:spPr>
          <a:xfrm>
            <a:off x="5486400" y="3794760"/>
            <a:ext cx="1188720" cy="1280160"/>
          </a:xfrm>
          <a:prstGeom prst="rect">
            <a:avLst/>
          </a:prstGeom>
          <a:noFill/>
          <a:ln/>
        </p:spPr>
        <p:txBody>
          <a:bodyPr wrap="square" lIns="0" tIns="0" rIns="0" bIns="0" rtlCol="0" anchor="t"/>
          <a:lstStyle/>
          <a:p>
            <a:pPr algn="l" indent="0" marL="0">
              <a:lnSpc>
                <a:spcPct val="115000"/>
              </a:lnSpc>
              <a:buNone/>
            </a:pPr>
            <a:r>
              <a:rPr lang="en-US" sz="900" dirty="0">
                <a:solidFill>
                  <a:srgbClr val="5C6B7A"/>
                </a:solidFill>
                <a:latin typeface="Calibri" pitchFamily="34" charset="0"/>
                <a:ea typeface="Calibri" pitchFamily="34" charset="-122"/>
                <a:cs typeface="Calibri" pitchFamily="34" charset="-120"/>
              </a:rPr>
              <a:t>Outer ring = 5. Snowflake and Databricks overlap almost entirely.</a:t>
            </a:r>
            <a:endParaRPr lang="en-US" sz="900" dirty="0"/>
          </a:p>
        </p:txBody>
      </p:sp>
      <p:sp>
        <p:nvSpPr>
          <p:cNvPr id="14" name="Text 11"/>
          <p:cNvSpPr txBox="1"/>
          <p:nvPr/>
        </p:nvSpPr>
        <p:spPr>
          <a:xfrm>
            <a:off x="6858000" y="2103120"/>
            <a:ext cx="4754880" cy="256032"/>
          </a:xfrm>
          <a:prstGeom prst="rect">
            <a:avLst/>
          </a:prstGeom>
          <a:noFill/>
          <a:ln/>
        </p:spPr>
        <p:txBody>
          <a:bodyPr wrap="square" lIns="0" tIns="0" rIns="0" bIns="0" rtlCol="0" anchor="t"/>
          <a:lstStyle/>
          <a:p>
            <a:pPr algn="l" indent="0" marL="0">
              <a:lnSpc>
                <a:spcPct val="115000"/>
              </a:lnSpc>
              <a:buNone/>
            </a:pPr>
            <a:r>
              <a:rPr lang="en-US" sz="1200" b="1" dirty="0">
                <a:solidFill>
                  <a:srgbClr val="172029"/>
                </a:solidFill>
                <a:latin typeface="Calibri" pitchFamily="34" charset="0"/>
                <a:ea typeface="Calibri" pitchFamily="34" charset="-122"/>
                <a:cs typeface="Calibri" pitchFamily="34" charset="-120"/>
              </a:rPr>
              <a:t>Cost under 1 TB</a:t>
            </a:r>
            <a:endParaRPr lang="en-US" sz="1200" dirty="0"/>
          </a:p>
        </p:txBody>
      </p:sp>
      <p:sp>
        <p:nvSpPr>
          <p:cNvPr id="15" name="Text 12"/>
          <p:cNvSpPr txBox="1"/>
          <p:nvPr/>
        </p:nvSpPr>
        <p:spPr>
          <a:xfrm>
            <a:off x="6858000" y="2359152"/>
            <a:ext cx="4754880" cy="50292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Warehouses bill by the second whether the data is 38 GB or 38 TB. Lakelet is free at 38 GB.</a:t>
            </a:r>
            <a:endParaRPr lang="en-US" sz="950" dirty="0"/>
          </a:p>
        </p:txBody>
      </p:sp>
      <p:sp>
        <p:nvSpPr>
          <p:cNvPr id="16" name="Text 13"/>
          <p:cNvSpPr txBox="1"/>
          <p:nvPr/>
        </p:nvSpPr>
        <p:spPr>
          <a:xfrm>
            <a:off x="6858000" y="2889504"/>
            <a:ext cx="4754880" cy="256032"/>
          </a:xfrm>
          <a:prstGeom prst="rect">
            <a:avLst/>
          </a:prstGeom>
          <a:noFill/>
          <a:ln/>
        </p:spPr>
        <p:txBody>
          <a:bodyPr wrap="square" lIns="0" tIns="0" rIns="0" bIns="0" rtlCol="0" anchor="t"/>
          <a:lstStyle/>
          <a:p>
            <a:pPr algn="l" indent="0" marL="0">
              <a:lnSpc>
                <a:spcPct val="115000"/>
              </a:lnSpc>
              <a:buNone/>
            </a:pPr>
            <a:r>
              <a:rPr lang="en-US" sz="1200" b="1" dirty="0">
                <a:solidFill>
                  <a:srgbClr val="172029"/>
                </a:solidFill>
                <a:latin typeface="Calibri" pitchFamily="34" charset="0"/>
                <a:ea typeface="Calibri" pitchFamily="34" charset="-122"/>
                <a:cs typeface="Calibri" pitchFamily="34" charset="-120"/>
              </a:rPr>
              <a:t>Runs on the laptop</a:t>
            </a:r>
            <a:endParaRPr lang="en-US" sz="1200" dirty="0"/>
          </a:p>
        </p:txBody>
      </p:sp>
      <p:sp>
        <p:nvSpPr>
          <p:cNvPr id="17" name="Text 14"/>
          <p:cNvSpPr txBox="1"/>
          <p:nvPr/>
        </p:nvSpPr>
        <p:spPr>
          <a:xfrm>
            <a:off x="6858000" y="3145536"/>
            <a:ext cx="4754880" cy="50292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Only MotherDuck has a local story, and its hybrid execution decides for you on their cloud.</a:t>
            </a:r>
            <a:endParaRPr lang="en-US" sz="950" dirty="0"/>
          </a:p>
        </p:txBody>
      </p:sp>
      <p:sp>
        <p:nvSpPr>
          <p:cNvPr id="18" name="Text 15"/>
          <p:cNvSpPr txBox="1"/>
          <p:nvPr/>
        </p:nvSpPr>
        <p:spPr>
          <a:xfrm>
            <a:off x="6858000" y="3675888"/>
            <a:ext cx="4754880" cy="256032"/>
          </a:xfrm>
          <a:prstGeom prst="rect">
            <a:avLst/>
          </a:prstGeom>
          <a:noFill/>
          <a:ln/>
        </p:spPr>
        <p:txBody>
          <a:bodyPr wrap="square" lIns="0" tIns="0" rIns="0" bIns="0" rtlCol="0" anchor="t"/>
          <a:lstStyle/>
          <a:p>
            <a:pPr algn="l" indent="0" marL="0">
              <a:lnSpc>
                <a:spcPct val="115000"/>
              </a:lnSpc>
              <a:buNone/>
            </a:pPr>
            <a:r>
              <a:rPr lang="en-US" sz="1200" b="1" dirty="0">
                <a:solidFill>
                  <a:srgbClr val="172029"/>
                </a:solidFill>
                <a:latin typeface="Calibri" pitchFamily="34" charset="0"/>
                <a:ea typeface="Calibri" pitchFamily="34" charset="-122"/>
                <a:cs typeface="Calibri" pitchFamily="34" charset="-120"/>
              </a:rPr>
              <a:t>Data in your bucket</a:t>
            </a:r>
            <a:endParaRPr lang="en-US" sz="1200" dirty="0"/>
          </a:p>
        </p:txBody>
      </p:sp>
      <p:sp>
        <p:nvSpPr>
          <p:cNvPr id="19" name="Text 16"/>
          <p:cNvSpPr txBox="1"/>
          <p:nvPr/>
        </p:nvSpPr>
        <p:spPr>
          <a:xfrm>
            <a:off x="6858000" y="3931920"/>
            <a:ext cx="4754880" cy="50292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Iceberg opt-in on Snowflake and Databricks; MotherDuck stores on their side. Lakelet has no other mode.</a:t>
            </a:r>
            <a:endParaRPr lang="en-US" sz="950" dirty="0"/>
          </a:p>
        </p:txBody>
      </p:sp>
      <p:sp>
        <p:nvSpPr>
          <p:cNvPr id="20" name="Text 17"/>
          <p:cNvSpPr txBox="1"/>
          <p:nvPr/>
        </p:nvSpPr>
        <p:spPr>
          <a:xfrm>
            <a:off x="6858000" y="4462272"/>
            <a:ext cx="4754880" cy="256032"/>
          </a:xfrm>
          <a:prstGeom prst="rect">
            <a:avLst/>
          </a:prstGeom>
          <a:noFill/>
          <a:ln/>
        </p:spPr>
        <p:txBody>
          <a:bodyPr wrap="square" lIns="0" tIns="0" rIns="0" bIns="0" rtlCol="0" anchor="t"/>
          <a:lstStyle/>
          <a:p>
            <a:pPr algn="l" indent="0" marL="0">
              <a:lnSpc>
                <a:spcPct val="115000"/>
              </a:lnSpc>
              <a:buNone/>
            </a:pPr>
            <a:r>
              <a:rPr lang="en-US" sz="1200" b="1" dirty="0">
                <a:solidFill>
                  <a:srgbClr val="172029"/>
                </a:solidFill>
                <a:latin typeface="Calibri" pitchFamily="34" charset="0"/>
                <a:ea typeface="Calibri" pitchFamily="34" charset="-122"/>
                <a:cs typeface="Calibri" pitchFamily="34" charset="-120"/>
              </a:rPr>
              <a:t>Non-developer access</a:t>
            </a:r>
            <a:endParaRPr lang="en-US" sz="1200" dirty="0"/>
          </a:p>
        </p:txBody>
      </p:sp>
      <p:sp>
        <p:nvSpPr>
          <p:cNvPr id="21" name="Text 18"/>
          <p:cNvSpPr txBox="1"/>
          <p:nvPr/>
        </p:nvSpPr>
        <p:spPr>
          <a:xfrm>
            <a:off x="6858000" y="4718304"/>
            <a:ext cx="4754880" cy="50292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Cortex and Genie exist, behind a warehouse contract. Lakelet's ask box ships in the free tier.</a:t>
            </a:r>
            <a:endParaRPr lang="en-US" sz="950" dirty="0"/>
          </a:p>
        </p:txBody>
      </p:sp>
      <p:sp>
        <p:nvSpPr>
          <p:cNvPr id="22" name="Text 19"/>
          <p:cNvSpPr txBox="1"/>
          <p:nvPr/>
        </p:nvSpPr>
        <p:spPr>
          <a:xfrm>
            <a:off x="6858000" y="5248656"/>
            <a:ext cx="4754880" cy="256032"/>
          </a:xfrm>
          <a:prstGeom prst="rect">
            <a:avLst/>
          </a:prstGeom>
          <a:noFill/>
          <a:ln/>
        </p:spPr>
        <p:txBody>
          <a:bodyPr wrap="square" lIns="0" tIns="0" rIns="0" bIns="0" rtlCol="0" anchor="t"/>
          <a:lstStyle/>
          <a:p>
            <a:pPr algn="l" indent="0" marL="0">
              <a:lnSpc>
                <a:spcPct val="115000"/>
              </a:lnSpc>
              <a:buNone/>
            </a:pPr>
            <a:r>
              <a:rPr lang="en-US" sz="1200" b="1" dirty="0">
                <a:solidFill>
                  <a:srgbClr val="172029"/>
                </a:solidFill>
                <a:latin typeface="Calibri" pitchFamily="34" charset="0"/>
                <a:ea typeface="Calibri" pitchFamily="34" charset="-122"/>
                <a:cs typeface="Calibri" pitchFamily="34" charset="-120"/>
              </a:rPr>
              <a:t>Elastic when needed</a:t>
            </a:r>
            <a:endParaRPr lang="en-US" sz="1200" dirty="0"/>
          </a:p>
        </p:txBody>
      </p:sp>
      <p:sp>
        <p:nvSpPr>
          <p:cNvPr id="23" name="Text 20"/>
          <p:cNvSpPr txBox="1"/>
          <p:nvPr/>
        </p:nvSpPr>
        <p:spPr>
          <a:xfrm>
            <a:off x="6858000" y="5504688"/>
            <a:ext cx="4754880" cy="502920"/>
          </a:xfrm>
          <a:prstGeom prst="rect">
            <a:avLst/>
          </a:prstGeom>
          <a:noFill/>
          <a:ln/>
        </p:spPr>
        <p:txBody>
          <a:bodyPr wrap="square" lIns="0" tIns="0" rIns="0" bIns="0" rtlCol="0" anchor="t"/>
          <a:lstStyle/>
          <a:p>
            <a:pPr algn="l" indent="0" marL="0">
              <a:lnSpc>
                <a:spcPct val="115000"/>
              </a:lnSpc>
              <a:buNone/>
            </a:pPr>
            <a:r>
              <a:rPr lang="en-US" sz="950" dirty="0">
                <a:solidFill>
                  <a:srgbClr val="5C6B7A"/>
                </a:solidFill>
                <a:latin typeface="Calibri" pitchFamily="34" charset="0"/>
                <a:ea typeface="Calibri" pitchFamily="34" charset="-122"/>
                <a:cs typeface="Calibri" pitchFamily="34" charset="-120"/>
              </a:rPr>
              <a:t>The one axis the incumbents win outright. Burst narrows it for the runs that matter.</a:t>
            </a:r>
            <a:endParaRPr lang="en-US" sz="950" dirty="0"/>
          </a:p>
        </p:txBody>
      </p:sp>
      <p:sp>
        <p:nvSpPr>
          <p:cNvPr id="24" name="Text 21"/>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25" name="Text 22"/>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Supabase did this for Postgres. Lakelet does it for the warehouse.</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Same playbook: an open-source core on a boring standard, free to start, priced like a tool, growing through the developers who learn it first.</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949440" cy="914400"/>
        </p:xfrm>
        <a:graphic>
          <a:graphicData uri="http://schemas.openxmlformats.org/drawingml/2006/table">
            <a:tbl>
              <a:tblPr/>
              <a:tblGrid>
                <a:gridCol w="2103120"/>
                <a:gridCol w="2286000"/>
                <a:gridCol w="2560320"/>
              </a:tblGrid>
              <a:tr h="502920">
                <a:tc>
                  <a:txBody>
                    <a:bodyPr/>
                    <a:lstStyle/>
                    <a:p>
                      <a:pPr algn="l" indent="0" marL="0">
                        <a:buNone/>
                      </a:pPr>
                      <a:endParaRPr lang="en-US" sz="130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5C6B7A"/>
                          </a:solidFill>
                          <a:latin typeface="Calibri" pitchFamily="34" charset="0"/>
                          <a:ea typeface="Calibri" pitchFamily="34" charset="-122"/>
                          <a:cs typeface="Calibri" pitchFamily="34" charset="-120"/>
                        </a:rPr>
                        <a:t>Supabase</a:t>
                      </a:r>
                      <a:endParaRPr lang="en-US" sz="130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F8A5B"/>
                          </a:solidFill>
                          <a:latin typeface="Calibri" pitchFamily="34" charset="0"/>
                          <a:ea typeface="Calibri" pitchFamily="34" charset="-122"/>
                          <a:cs typeface="Calibri" pitchFamily="34" charset="-120"/>
                        </a:rPr>
                        <a:t>Lakelet</a:t>
                      </a:r>
                      <a:endParaRPr lang="en-US" sz="130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72029"/>
                          </a:solidFill>
                          <a:latin typeface="Calibri" pitchFamily="34" charset="0"/>
                          <a:ea typeface="Calibri" pitchFamily="34" charset="-122"/>
                          <a:cs typeface="Calibri" pitchFamily="34" charset="-120"/>
                        </a:rPr>
                        <a:t>Open standard underneath</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029"/>
                          </a:solidFill>
                          <a:latin typeface="Calibri" pitchFamily="34" charset="0"/>
                          <a:ea typeface="Calibri" pitchFamily="34" charset="-122"/>
                          <a:cs typeface="Calibri" pitchFamily="34" charset="-120"/>
                        </a:rPr>
                        <a:t>Postgres</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029"/>
                          </a:solidFill>
                          <a:latin typeface="Calibri" pitchFamily="34" charset="0"/>
                          <a:ea typeface="Calibri" pitchFamily="34" charset="-122"/>
                          <a:cs typeface="Calibri" pitchFamily="34" charset="-120"/>
                        </a:rPr>
                        <a:t>DuckDB + Apache Iceberg + dbt Core</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72029"/>
                          </a:solidFill>
                          <a:latin typeface="Calibri" pitchFamily="34" charset="0"/>
                          <a:ea typeface="Calibri" pitchFamily="34" charset="-122"/>
                          <a:cs typeface="Calibri" pitchFamily="34" charset="-120"/>
                        </a:rPr>
                        <a:t>Closed incumbent it replaces</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029"/>
                          </a:solidFill>
                          <a:latin typeface="Calibri" pitchFamily="34" charset="0"/>
                          <a:ea typeface="Calibri" pitchFamily="34" charset="-122"/>
                          <a:cs typeface="Calibri" pitchFamily="34" charset="-120"/>
                        </a:rPr>
                        <a:t>Firebase</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029"/>
                          </a:solidFill>
                          <a:latin typeface="Calibri" pitchFamily="34" charset="0"/>
                          <a:ea typeface="Calibri" pitchFamily="34" charset="-122"/>
                          <a:cs typeface="Calibri" pitchFamily="34" charset="-120"/>
                        </a:rPr>
                        <a:t>Snowflake and Databricks, below a terabyte</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72029"/>
                          </a:solidFill>
                          <a:latin typeface="Calibri" pitchFamily="34" charset="0"/>
                          <a:ea typeface="Calibri" pitchFamily="34" charset="-122"/>
                          <a:cs typeface="Calibri" pitchFamily="34" charset="-120"/>
                        </a:rPr>
                        <a:t>Where your data lives</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029"/>
                          </a:solidFill>
                          <a:latin typeface="Calibri" pitchFamily="34" charset="0"/>
                          <a:ea typeface="Calibri" pitchFamily="34" charset="-122"/>
                          <a:cs typeface="Calibri" pitchFamily="34" charset="-120"/>
                        </a:rPr>
                        <a:t>Your Postgres, exportable any time</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029"/>
                          </a:solidFill>
                          <a:latin typeface="Calibri" pitchFamily="34" charset="0"/>
                          <a:ea typeface="Calibri" pitchFamily="34" charset="-122"/>
                          <a:cs typeface="Calibri" pitchFamily="34" charset="-120"/>
                        </a:rPr>
                        <a:t>Your S3 bucket, readable by any Iceberg engine</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72029"/>
                          </a:solidFill>
                          <a:latin typeface="Calibri" pitchFamily="34" charset="0"/>
                          <a:ea typeface="Calibri" pitchFamily="34" charset="-122"/>
                          <a:cs typeface="Calibri" pitchFamily="34" charset="-120"/>
                        </a:rPr>
                        <a:t>Entry price</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029"/>
                          </a:solidFill>
                          <a:latin typeface="Calibri" pitchFamily="34" charset="0"/>
                          <a:ea typeface="Calibri" pitchFamily="34" charset="-122"/>
                          <a:cs typeface="Calibri" pitchFamily="34" charset="-120"/>
                        </a:rPr>
                        <a:t>Free, then $25/mo plus usage</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029"/>
                          </a:solidFill>
                          <a:latin typeface="Calibri" pitchFamily="34" charset="0"/>
                          <a:ea typeface="Calibri" pitchFamily="34" charset="-122"/>
                          <a:cs typeface="Calibri" pitchFamily="34" charset="-120"/>
                        </a:rPr>
                        <a:t>Free, then $24/seat plus burst compute</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r>
              <a:tr h="502920">
                <a:tc>
                  <a:txBody>
                    <a:bodyPr/>
                    <a:lstStyle/>
                    <a:p>
                      <a:pPr algn="l" indent="0" marL="0">
                        <a:buNone/>
                      </a:pPr>
                      <a:r>
                        <a:rPr lang="en-US" sz="1250" b="1" dirty="0">
                          <a:solidFill>
                            <a:srgbClr val="172029"/>
                          </a:solidFill>
                          <a:latin typeface="Calibri" pitchFamily="34" charset="0"/>
                          <a:ea typeface="Calibri" pitchFamily="34" charset="-122"/>
                          <a:cs typeface="Calibri" pitchFamily="34" charset="-120"/>
                        </a:rPr>
                        <a:t>How it spreads</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029"/>
                          </a:solidFill>
                          <a:latin typeface="Calibri" pitchFamily="34" charset="0"/>
                          <a:ea typeface="Calibri" pitchFamily="34" charset="-122"/>
                          <a:cs typeface="Calibri" pitchFamily="34" charset="-120"/>
                        </a:rPr>
                        <a:t>AI builders provision it for their users; 60%+ of new databases</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72029"/>
                          </a:solidFill>
                          <a:latin typeface="Calibri" pitchFamily="34" charset="0"/>
                          <a:ea typeface="Calibri" pitchFamily="34" charset="-122"/>
                          <a:cs typeface="Calibri" pitchFamily="34" charset="-120"/>
                        </a:rPr>
                        <a:t>Agents and app builders provision it via MCP and a platforms API</a:t>
                      </a:r>
                      <a:endParaRPr lang="en-US" sz="1250" dirty="0">
                        <a:latin typeface="Calibri" charset="0"/>
                        <a:ea typeface="Calibri" charset="0"/>
                        <a:cs typeface="Calibri" charset="0"/>
                      </a:endParaRPr>
                    </a:p>
                  </a:txBody>
                  <a:tcPr marL="109728" marR="109728" marT="54864" marB="54864" anchor="ctr">
                    <a:lnL w="6350" cap="flat" cmpd="sng" algn="ctr">
                      <a:solidFill>
                        <a:srgbClr val="D5DBE2"/>
                      </a:solidFill>
                      <a:prstDash val="solid"/>
                      <a:round/>
                      <a:headEnd type="none" w="med" len="med"/>
                      <a:tailEnd type="none" w="med" len="med"/>
                    </a:lnL>
                    <a:lnR w="6350" cap="flat" cmpd="sng" algn="ctr">
                      <a:solidFill>
                        <a:srgbClr val="D5DBE2"/>
                      </a:solidFill>
                      <a:prstDash val="solid"/>
                      <a:round/>
                      <a:headEnd type="none" w="med" len="med"/>
                      <a:tailEnd type="none" w="med" len="med"/>
                    </a:lnR>
                    <a:lnT w="6350" cap="flat" cmpd="sng" algn="ctr">
                      <a:solidFill>
                        <a:srgbClr val="D5DBE2"/>
                      </a:solidFill>
                      <a:prstDash val="solid"/>
                      <a:round/>
                      <a:headEnd type="none" w="med" len="med"/>
                      <a:tailEnd type="none" w="med" len="med"/>
                    </a:lnT>
                    <a:lnB w="6350" cap="flat" cmpd="sng" algn="ctr">
                      <a:solidFill>
                        <a:srgbClr val="D5DBE2"/>
                      </a:solidFill>
                      <a:prstDash val="solid"/>
                      <a:round/>
                      <a:headEnd type="none" w="med" len="med"/>
                      <a:tailEnd type="none" w="med" len="med"/>
                    </a:lnB>
                    <a:solidFill>
                      <a:srgbClr val="FFFFFF"/>
                    </a:solidFill>
                  </a:tcPr>
                </a:tc>
              </a:tr>
            </a:tbl>
          </a:graphicData>
        </a:graphic>
      </p:graphicFrame>
      <p:sp>
        <p:nvSpPr>
          <p:cNvPr id="5" name="Shape 2"/>
          <p:cNvSpPr/>
          <p:nvPr/>
        </p:nvSpPr>
        <p:spPr>
          <a:xfrm>
            <a:off x="7818120" y="2103120"/>
            <a:ext cx="3822192" cy="3520440"/>
          </a:xfrm>
          <a:prstGeom prst="roundRect">
            <a:avLst>
              <a:gd name="adj" fmla="val 3117"/>
            </a:avLst>
          </a:prstGeom>
          <a:solidFill>
            <a:srgbClr val="FFFFFF"/>
          </a:solidFill>
          <a:ln w="9525">
            <a:solidFill>
              <a:srgbClr val="D5DBE2"/>
            </a:solidFill>
            <a:prstDash val="solid"/>
          </a:ln>
        </p:spPr>
      </p:sp>
      <p:sp>
        <p:nvSpPr>
          <p:cNvPr id="6" name="Text 3"/>
          <p:cNvSpPr txBox="1"/>
          <p:nvPr/>
        </p:nvSpPr>
        <p:spPr>
          <a:xfrm>
            <a:off x="8092440" y="2286000"/>
            <a:ext cx="3291840" cy="274320"/>
          </a:xfrm>
          <a:prstGeom prst="rect">
            <a:avLst/>
          </a:prstGeom>
          <a:noFill/>
          <a:ln/>
        </p:spPr>
        <p:txBody>
          <a:bodyPr wrap="square" lIns="0" tIns="0" rIns="0" bIns="0" rtlCol="0" anchor="t"/>
          <a:lstStyle/>
          <a:p>
            <a:pPr algn="l" indent="0" marL="0">
              <a:lnSpc>
                <a:spcPct val="115000"/>
              </a:lnSpc>
              <a:buNone/>
            </a:pPr>
            <a:r>
              <a:rPr lang="en-US" sz="1200" b="1" dirty="0">
                <a:solidFill>
                  <a:srgbClr val="5C6B7A"/>
                </a:solidFill>
                <a:latin typeface="Calibri" pitchFamily="34" charset="0"/>
                <a:ea typeface="Calibri" pitchFamily="34" charset="-122"/>
                <a:cs typeface="Calibri" pitchFamily="34" charset="-120"/>
              </a:rPr>
              <a:t>Where the playbook led</a:t>
            </a:r>
            <a:endParaRPr lang="en-US" sz="1200" dirty="0"/>
          </a:p>
        </p:txBody>
      </p:sp>
      <p:sp>
        <p:nvSpPr>
          <p:cNvPr id="7" name="Text 4"/>
          <p:cNvSpPr txBox="1"/>
          <p:nvPr/>
        </p:nvSpPr>
        <p:spPr>
          <a:xfrm>
            <a:off x="8092440" y="2651760"/>
            <a:ext cx="3291840" cy="457200"/>
          </a:xfrm>
          <a:prstGeom prst="rect">
            <a:avLst/>
          </a:prstGeom>
          <a:noFill/>
          <a:ln/>
        </p:spPr>
        <p:txBody>
          <a:bodyPr wrap="square" lIns="0" tIns="0" rIns="0" bIns="0" rtlCol="0" anchor="t"/>
          <a:lstStyle/>
          <a:p>
            <a:pPr algn="l" indent="0" marL="0">
              <a:lnSpc>
                <a:spcPct val="115000"/>
              </a:lnSpc>
              <a:buNone/>
            </a:pPr>
            <a:r>
              <a:rPr lang="en-US" sz="2600" b="1" spc="-100" kern="0" dirty="0">
                <a:solidFill>
                  <a:srgbClr val="172029"/>
                </a:solidFill>
                <a:latin typeface="Calibri" pitchFamily="34" charset="0"/>
                <a:ea typeface="Calibri" pitchFamily="34" charset="-122"/>
                <a:cs typeface="Calibri" pitchFamily="34" charset="-120"/>
              </a:rPr>
              <a:t>$10.5B</a:t>
            </a:r>
            <a:endParaRPr lang="en-US" sz="2600" dirty="0"/>
          </a:p>
        </p:txBody>
      </p:sp>
      <p:sp>
        <p:nvSpPr>
          <p:cNvPr id="8" name="Text 5"/>
          <p:cNvSpPr txBox="1"/>
          <p:nvPr/>
        </p:nvSpPr>
        <p:spPr>
          <a:xfrm>
            <a:off x="8092440" y="3108960"/>
            <a:ext cx="3291840" cy="457200"/>
          </a:xfrm>
          <a:prstGeom prst="rect">
            <a:avLst/>
          </a:prstGeom>
          <a:noFill/>
          <a:ln/>
        </p:spPr>
        <p:txBody>
          <a:bodyPr wrap="square" lIns="0" tIns="0" rIns="0" bIns="0" rtlCol="0" anchor="t"/>
          <a:lstStyle/>
          <a:p>
            <a:pPr algn="l" indent="0" marL="0">
              <a:lnSpc>
                <a:spcPct val="115000"/>
              </a:lnSpc>
              <a:buNone/>
            </a:pPr>
            <a:r>
              <a:rPr lang="en-US" sz="1100" dirty="0">
                <a:solidFill>
                  <a:srgbClr val="5C6B7A"/>
                </a:solidFill>
                <a:latin typeface="Calibri" pitchFamily="34" charset="0"/>
                <a:ea typeface="Calibri" pitchFamily="34" charset="-122"/>
                <a:cs typeface="Calibri" pitchFamily="34" charset="-120"/>
              </a:rPr>
              <a:t>Series F valuation, June 2026, seven months after the Series E</a:t>
            </a:r>
            <a:endParaRPr lang="en-US" sz="1100" dirty="0"/>
          </a:p>
        </p:txBody>
      </p:sp>
      <p:sp>
        <p:nvSpPr>
          <p:cNvPr id="9" name="Text 6"/>
          <p:cNvSpPr txBox="1"/>
          <p:nvPr/>
        </p:nvSpPr>
        <p:spPr>
          <a:xfrm>
            <a:off x="8092440" y="3611880"/>
            <a:ext cx="3291840" cy="457200"/>
          </a:xfrm>
          <a:prstGeom prst="rect">
            <a:avLst/>
          </a:prstGeom>
          <a:noFill/>
          <a:ln/>
        </p:spPr>
        <p:txBody>
          <a:bodyPr wrap="square" lIns="0" tIns="0" rIns="0" bIns="0" rtlCol="0" anchor="t"/>
          <a:lstStyle/>
          <a:p>
            <a:pPr algn="l" indent="0" marL="0">
              <a:lnSpc>
                <a:spcPct val="115000"/>
              </a:lnSpc>
              <a:buNone/>
            </a:pPr>
            <a:r>
              <a:rPr lang="en-US" sz="2600" b="1" spc="-100" kern="0" dirty="0">
                <a:solidFill>
                  <a:srgbClr val="172029"/>
                </a:solidFill>
                <a:latin typeface="Calibri" pitchFamily="34" charset="0"/>
                <a:ea typeface="Calibri" pitchFamily="34" charset="-122"/>
                <a:cs typeface="Calibri" pitchFamily="34" charset="-120"/>
              </a:rPr>
              <a:t>$170M</a:t>
            </a:r>
            <a:endParaRPr lang="en-US" sz="2600" dirty="0"/>
          </a:p>
        </p:txBody>
      </p:sp>
      <p:sp>
        <p:nvSpPr>
          <p:cNvPr id="10" name="Text 7"/>
          <p:cNvSpPr txBox="1"/>
          <p:nvPr/>
        </p:nvSpPr>
        <p:spPr>
          <a:xfrm>
            <a:off x="8092440" y="4069080"/>
            <a:ext cx="3291840" cy="457200"/>
          </a:xfrm>
          <a:prstGeom prst="rect">
            <a:avLst/>
          </a:prstGeom>
          <a:noFill/>
          <a:ln/>
        </p:spPr>
        <p:txBody>
          <a:bodyPr wrap="square" lIns="0" tIns="0" rIns="0" bIns="0" rtlCol="0" anchor="t"/>
          <a:lstStyle/>
          <a:p>
            <a:pPr algn="l" indent="0" marL="0">
              <a:lnSpc>
                <a:spcPct val="115000"/>
              </a:lnSpc>
              <a:buNone/>
            </a:pPr>
            <a:r>
              <a:rPr lang="en-US" sz="1100" dirty="0">
                <a:solidFill>
                  <a:srgbClr val="5C6B7A"/>
                </a:solidFill>
                <a:latin typeface="Calibri" pitchFamily="34" charset="0"/>
                <a:ea typeface="Calibri" pitchFamily="34" charset="-122"/>
                <a:cs typeface="Calibri" pitchFamily="34" charset="-120"/>
              </a:rPr>
              <a:t>ARR in May 2026, up from about $101M at end of 2025</a:t>
            </a:r>
            <a:endParaRPr lang="en-US" sz="1100" dirty="0"/>
          </a:p>
        </p:txBody>
      </p:sp>
      <p:sp>
        <p:nvSpPr>
          <p:cNvPr id="11" name="Text 8"/>
          <p:cNvSpPr txBox="1"/>
          <p:nvPr/>
        </p:nvSpPr>
        <p:spPr>
          <a:xfrm>
            <a:off x="8092440" y="4572000"/>
            <a:ext cx="3291840" cy="457200"/>
          </a:xfrm>
          <a:prstGeom prst="rect">
            <a:avLst/>
          </a:prstGeom>
          <a:noFill/>
          <a:ln/>
        </p:spPr>
        <p:txBody>
          <a:bodyPr wrap="square" lIns="0" tIns="0" rIns="0" bIns="0" rtlCol="0" anchor="t"/>
          <a:lstStyle/>
          <a:p>
            <a:pPr algn="l" indent="0" marL="0">
              <a:lnSpc>
                <a:spcPct val="115000"/>
              </a:lnSpc>
              <a:buNone/>
            </a:pPr>
            <a:r>
              <a:rPr lang="en-US" sz="2600" b="1" spc="-100" kern="0" dirty="0">
                <a:solidFill>
                  <a:srgbClr val="172029"/>
                </a:solidFill>
                <a:latin typeface="Calibri" pitchFamily="34" charset="0"/>
                <a:ea typeface="Calibri" pitchFamily="34" charset="-122"/>
                <a:cs typeface="Calibri" pitchFamily="34" charset="-120"/>
              </a:rPr>
              <a:t>250K+</a:t>
            </a:r>
            <a:endParaRPr lang="en-US" sz="2600" dirty="0"/>
          </a:p>
        </p:txBody>
      </p:sp>
      <p:sp>
        <p:nvSpPr>
          <p:cNvPr id="12" name="Text 9"/>
          <p:cNvSpPr txBox="1"/>
          <p:nvPr/>
        </p:nvSpPr>
        <p:spPr>
          <a:xfrm>
            <a:off x="8092440" y="5029200"/>
            <a:ext cx="3291840" cy="457200"/>
          </a:xfrm>
          <a:prstGeom prst="rect">
            <a:avLst/>
          </a:prstGeom>
          <a:noFill/>
          <a:ln/>
        </p:spPr>
        <p:txBody>
          <a:bodyPr wrap="square" lIns="0" tIns="0" rIns="0" bIns="0" rtlCol="0" anchor="t"/>
          <a:lstStyle/>
          <a:p>
            <a:pPr algn="l" indent="0" marL="0">
              <a:lnSpc>
                <a:spcPct val="115000"/>
              </a:lnSpc>
              <a:buNone/>
            </a:pPr>
            <a:r>
              <a:rPr lang="en-US" sz="1100" dirty="0">
                <a:solidFill>
                  <a:srgbClr val="5C6B7A"/>
                </a:solidFill>
                <a:latin typeface="Calibri" pitchFamily="34" charset="0"/>
                <a:ea typeface="Calibri" pitchFamily="34" charset="-122"/>
                <a:cs typeface="Calibri" pitchFamily="34" charset="-120"/>
              </a:rPr>
              <a:t>customers on the same free-then-$25 ladder</a:t>
            </a:r>
            <a:endParaRPr lang="en-US" sz="1100" dirty="0"/>
          </a:p>
        </p:txBody>
      </p:sp>
      <p:sp>
        <p:nvSpPr>
          <p:cNvPr id="13" name="Text 10"/>
          <p:cNvSpPr txBox="1"/>
          <p:nvPr/>
        </p:nvSpPr>
        <p:spPr>
          <a:xfrm>
            <a:off x="548640" y="5257800"/>
            <a:ext cx="6949440" cy="731520"/>
          </a:xfrm>
          <a:prstGeom prst="rect">
            <a:avLst/>
          </a:prstGeom>
          <a:noFill/>
          <a:ln/>
        </p:spPr>
        <p:txBody>
          <a:bodyPr wrap="square" lIns="0" tIns="0" rIns="0" bIns="0" rtlCol="0" anchor="t"/>
          <a:lstStyle/>
          <a:p>
            <a:pPr algn="l" indent="0" marL="0">
              <a:lnSpc>
                <a:spcPct val="115000"/>
              </a:lnSpc>
              <a:buNone/>
            </a:pPr>
            <a:r>
              <a:rPr lang="en-US" sz="1200" dirty="0">
                <a:solidFill>
                  <a:srgbClr val="5C6B7A"/>
                </a:solidFill>
                <a:latin typeface="Calibri" pitchFamily="34" charset="0"/>
                <a:ea typeface="Calibri" pitchFamily="34" charset="-122"/>
                <a:cs typeface="Calibri" pitchFamily="34" charset="-120"/>
              </a:rPr>
              <a:t>Nearest in-category comp: MotherDuck, DuckDB on their cloud, ~$133M raised at a ~$496M valuation (May 2025). Lakelet is DuckDB on your bucket, the Supabase-versus-Firebase distinction.</a:t>
            </a:r>
            <a:endParaRPr lang="en-US" sz="1200" dirty="0"/>
          </a:p>
        </p:txBody>
      </p:sp>
      <p:sp>
        <p:nvSpPr>
          <p:cNvPr id="14" name="Text 11"/>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15" name="Text 12"/>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1F4"/>
        </a:solidFill>
      </p:bgPr>
    </p:bg>
    <p:spTree>
      <p:nvGrpSpPr>
        <p:cNvPr id="1" name=""/>
        <p:cNvGrpSpPr/>
        <p:nvPr/>
      </p:nvGrpSpPr>
      <p:grpSpPr>
        <a:xfrm>
          <a:off x="0" y="0"/>
          <a:ext cx="0" cy="0"/>
          <a:chOff x="0" y="0"/>
          <a:chExt cx="0" cy="0"/>
        </a:xfrm>
      </p:grpSpPr>
      <p:sp>
        <p:nvSpPr>
          <p:cNvPr id="2" name="Text 0"/>
          <p:cNvSpPr txBox="1"/>
          <p:nvPr/>
        </p:nvSpPr>
        <p:spPr>
          <a:xfrm>
            <a:off x="548640" y="502920"/>
            <a:ext cx="11091672" cy="822960"/>
          </a:xfrm>
          <a:prstGeom prst="rect">
            <a:avLst/>
          </a:prstGeom>
          <a:noFill/>
          <a:ln/>
        </p:spPr>
        <p:txBody>
          <a:bodyPr wrap="square" lIns="0" tIns="0" rIns="0" bIns="0" rtlCol="0" anchor="t"/>
          <a:lstStyle/>
          <a:p>
            <a:pPr algn="l" indent="0" marL="0">
              <a:lnSpc>
                <a:spcPct val="115000"/>
              </a:lnSpc>
              <a:buNone/>
            </a:pPr>
            <a:r>
              <a:rPr lang="en-US" sz="3400" b="1" spc="-100" kern="0" dirty="0">
                <a:solidFill>
                  <a:srgbClr val="172029"/>
                </a:solidFill>
                <a:latin typeface="Calibri" pitchFamily="34" charset="0"/>
                <a:ea typeface="Calibri" pitchFamily="34" charset="-122"/>
                <a:cs typeface="Calibri" pitchFamily="34" charset="-120"/>
              </a:rPr>
              <a:t>Four phases. Each one produces the evidence for the next round.</a:t>
            </a:r>
            <a:endParaRPr lang="en-US" sz="3400" dirty="0"/>
          </a:p>
        </p:txBody>
      </p:sp>
      <p:sp>
        <p:nvSpPr>
          <p:cNvPr id="3" name="Text 1"/>
          <p:cNvSpPr txBox="1"/>
          <p:nvPr/>
        </p:nvSpPr>
        <p:spPr>
          <a:xfrm>
            <a:off x="548640" y="1325880"/>
            <a:ext cx="8686800" cy="548640"/>
          </a:xfrm>
          <a:prstGeom prst="rect">
            <a:avLst/>
          </a:prstGeom>
          <a:noFill/>
          <a:ln/>
        </p:spPr>
        <p:txBody>
          <a:bodyPr wrap="square" lIns="0" tIns="0" rIns="0" bIns="0" rtlCol="0" anchor="t"/>
          <a:lstStyle/>
          <a:p>
            <a:pPr algn="l" indent="0" marL="0">
              <a:lnSpc>
                <a:spcPct val="115000"/>
              </a:lnSpc>
              <a:buNone/>
            </a:pPr>
            <a:r>
              <a:rPr lang="en-US" sz="1600" dirty="0">
                <a:solidFill>
                  <a:srgbClr val="5C6B7A"/>
                </a:solidFill>
                <a:latin typeface="Calibri" pitchFamily="34" charset="0"/>
                <a:ea typeface="Calibri" pitchFamily="34" charset="-122"/>
                <a:cs typeface="Calibri" pitchFamily="34" charset="-120"/>
              </a:rPr>
              <a:t>Free is the funnel; seats and burst keep the company alive; the catalog and the calibration data are what compounds.</a:t>
            </a:r>
            <a:endParaRPr lang="en-US" sz="1600" dirty="0"/>
          </a:p>
        </p:txBody>
      </p:sp>
      <p:sp>
        <p:nvSpPr>
          <p:cNvPr id="4" name="Shape 2"/>
          <p:cNvSpPr/>
          <p:nvPr/>
        </p:nvSpPr>
        <p:spPr>
          <a:xfrm>
            <a:off x="1005840" y="2487168"/>
            <a:ext cx="10177272" cy="0"/>
          </a:xfrm>
          <a:prstGeom prst="line">
            <a:avLst/>
          </a:prstGeom>
          <a:noFill/>
          <a:ln w="19050">
            <a:solidFill>
              <a:srgbClr val="D5DBE2"/>
            </a:solidFill>
            <a:prstDash val="solid"/>
          </a:ln>
        </p:spPr>
      </p:sp>
      <p:sp>
        <p:nvSpPr>
          <p:cNvPr id="5" name="Shape 3"/>
          <p:cNvSpPr/>
          <p:nvPr/>
        </p:nvSpPr>
        <p:spPr>
          <a:xfrm>
            <a:off x="905256" y="2386584"/>
            <a:ext cx="201168" cy="201168"/>
          </a:xfrm>
          <a:prstGeom prst="ellipse">
            <a:avLst/>
          </a:prstGeom>
          <a:solidFill>
            <a:srgbClr val="172029"/>
          </a:solidFill>
          <a:ln w="12700">
            <a:solidFill>
              <a:srgbClr val="172029"/>
            </a:solidFill>
            <a:prstDash val="solid"/>
          </a:ln>
        </p:spPr>
      </p:sp>
      <p:sp>
        <p:nvSpPr>
          <p:cNvPr id="6" name="Text 4"/>
          <p:cNvSpPr txBox="1"/>
          <p:nvPr/>
        </p:nvSpPr>
        <p:spPr>
          <a:xfrm>
            <a:off x="1325880" y="2304288"/>
            <a:ext cx="2011680" cy="320040"/>
          </a:xfrm>
          <a:prstGeom prst="rect">
            <a:avLst/>
          </a:prstGeom>
          <a:noFill/>
          <a:ln/>
        </p:spPr>
        <p:txBody>
          <a:bodyPr wrap="square" lIns="0" tIns="0" rIns="0" bIns="0" rtlCol="0" anchor="t"/>
          <a:lstStyle/>
          <a:p>
            <a:pPr algn="l" indent="0" marL="0">
              <a:lnSpc>
                <a:spcPct val="115000"/>
              </a:lnSpc>
              <a:buNone/>
            </a:pPr>
            <a:r>
              <a:rPr lang="en-US" sz="1100" b="1" dirty="0">
                <a:solidFill>
                  <a:srgbClr val="5C6B7A"/>
                </a:solidFill>
                <a:latin typeface="Calibri" pitchFamily="34" charset="0"/>
                <a:ea typeface="Calibri" pitchFamily="34" charset="-122"/>
                <a:cs typeface="Calibri" pitchFamily="34" charset="-120"/>
              </a:rPr>
              <a:t>Day 0 · Sep–Dec 2026</a:t>
            </a:r>
            <a:endParaRPr lang="en-US" sz="1100" dirty="0"/>
          </a:p>
        </p:txBody>
      </p:sp>
      <p:sp>
        <p:nvSpPr>
          <p:cNvPr id="7" name="Shape 5"/>
          <p:cNvSpPr/>
          <p:nvPr/>
        </p:nvSpPr>
        <p:spPr>
          <a:xfrm>
            <a:off x="548640" y="2834640"/>
            <a:ext cx="2606040" cy="2926080"/>
          </a:xfrm>
          <a:prstGeom prst="roundRect">
            <a:avLst>
              <a:gd name="adj" fmla="val 4211"/>
            </a:avLst>
          </a:prstGeom>
          <a:solidFill>
            <a:srgbClr val="FFFFFF"/>
          </a:solidFill>
          <a:ln w="9525">
            <a:solidFill>
              <a:srgbClr val="D5DBE2"/>
            </a:solidFill>
            <a:prstDash val="solid"/>
          </a:ln>
        </p:spPr>
      </p:sp>
      <p:sp>
        <p:nvSpPr>
          <p:cNvPr id="8" name="Text 6"/>
          <p:cNvSpPr txBox="1"/>
          <p:nvPr/>
        </p:nvSpPr>
        <p:spPr>
          <a:xfrm>
            <a:off x="777240" y="3017520"/>
            <a:ext cx="2148840" cy="365760"/>
          </a:xfrm>
          <a:prstGeom prst="rect">
            <a:avLst/>
          </a:prstGeom>
          <a:noFill/>
          <a:ln/>
        </p:spPr>
        <p:txBody>
          <a:bodyPr wrap="square" lIns="0" tIns="0" rIns="0" bIns="0" rtlCol="0" anchor="t"/>
          <a:lstStyle/>
          <a:p>
            <a:pPr algn="l" indent="0" marL="0">
              <a:lnSpc>
                <a:spcPct val="115000"/>
              </a:lnSpc>
              <a:buNone/>
            </a:pPr>
            <a:r>
              <a:rPr lang="en-US" sz="1500" b="1" dirty="0">
                <a:solidFill>
                  <a:srgbClr val="172029"/>
                </a:solidFill>
                <a:latin typeface="Calibri" pitchFamily="34" charset="0"/>
                <a:ea typeface="Calibri" pitchFamily="34" charset="-122"/>
                <a:cs typeface="Calibri" pitchFamily="34" charset="-120"/>
              </a:rPr>
              <a:t>Prove it works</a:t>
            </a:r>
            <a:endParaRPr lang="en-US" sz="1500" dirty="0"/>
          </a:p>
        </p:txBody>
      </p:sp>
      <p:sp>
        <p:nvSpPr>
          <p:cNvPr id="9" name="Text 7"/>
          <p:cNvSpPr txBox="1"/>
          <p:nvPr/>
        </p:nvSpPr>
        <p:spPr>
          <a:xfrm>
            <a:off x="777240" y="3429000"/>
            <a:ext cx="2148840" cy="155448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Desktop app + CLI, gauge, local Iceberg, ask box, burst on AWS, MCP server for agents. Ten design partners on real workloads.</a:t>
            </a:r>
            <a:endParaRPr lang="en-US" sz="1050" dirty="0"/>
          </a:p>
        </p:txBody>
      </p:sp>
      <p:sp>
        <p:nvSpPr>
          <p:cNvPr id="10" name="Shape 8"/>
          <p:cNvSpPr/>
          <p:nvPr/>
        </p:nvSpPr>
        <p:spPr>
          <a:xfrm>
            <a:off x="777240" y="5074920"/>
            <a:ext cx="2148840" cy="457200"/>
          </a:xfrm>
          <a:prstGeom prst="roundRect">
            <a:avLst>
              <a:gd name="adj" fmla="val 14000"/>
            </a:avLst>
          </a:prstGeom>
          <a:solidFill>
            <a:srgbClr val="EEF1F4"/>
          </a:solidFill>
          <a:ln w="12700">
            <a:solidFill>
              <a:srgbClr val="EEF1F4"/>
            </a:solidFill>
            <a:prstDash val="solid"/>
          </a:ln>
        </p:spPr>
      </p:sp>
      <p:sp>
        <p:nvSpPr>
          <p:cNvPr id="11" name="Text 9"/>
          <p:cNvSpPr txBox="1"/>
          <p:nvPr/>
        </p:nvSpPr>
        <p:spPr>
          <a:xfrm>
            <a:off x="868680" y="5074920"/>
            <a:ext cx="1965960" cy="457200"/>
          </a:xfrm>
          <a:prstGeom prst="rect">
            <a:avLst/>
          </a:prstGeom>
          <a:noFill/>
          <a:ln/>
        </p:spPr>
        <p:txBody>
          <a:bodyPr wrap="square" lIns="0" tIns="0" rIns="0" bIns="0" rtlCol="0" anchor="ctr"/>
          <a:lstStyle/>
          <a:p>
            <a:pPr algn="l" indent="0" marL="0">
              <a:lnSpc>
                <a:spcPct val="115000"/>
              </a:lnSpc>
              <a:buNone/>
            </a:pPr>
            <a:r>
              <a:rPr lang="en-US" sz="1000" b="1" dirty="0">
                <a:solidFill>
                  <a:srgbClr val="172029"/>
                </a:solidFill>
                <a:latin typeface="Calibri" pitchFamily="34" charset="0"/>
                <a:ea typeface="Calibri" pitchFamily="34" charset="-122"/>
                <a:cs typeface="Calibri" pitchFamily="34" charset="-120"/>
              </a:rPr>
              <a:t>Pre-seed raised on this</a:t>
            </a:r>
            <a:endParaRPr lang="en-US" sz="1000" dirty="0"/>
          </a:p>
        </p:txBody>
      </p:sp>
      <p:sp>
        <p:nvSpPr>
          <p:cNvPr id="12" name="Shape 10"/>
          <p:cNvSpPr/>
          <p:nvPr/>
        </p:nvSpPr>
        <p:spPr>
          <a:xfrm>
            <a:off x="3694176" y="2386584"/>
            <a:ext cx="201168" cy="201168"/>
          </a:xfrm>
          <a:prstGeom prst="ellipse">
            <a:avLst/>
          </a:prstGeom>
          <a:solidFill>
            <a:srgbClr val="172029"/>
          </a:solidFill>
          <a:ln w="12700">
            <a:solidFill>
              <a:srgbClr val="172029"/>
            </a:solidFill>
            <a:prstDash val="solid"/>
          </a:ln>
        </p:spPr>
      </p:sp>
      <p:sp>
        <p:nvSpPr>
          <p:cNvPr id="13" name="Text 11"/>
          <p:cNvSpPr txBox="1"/>
          <p:nvPr/>
        </p:nvSpPr>
        <p:spPr>
          <a:xfrm>
            <a:off x="4114800" y="2304288"/>
            <a:ext cx="2011680" cy="320040"/>
          </a:xfrm>
          <a:prstGeom prst="rect">
            <a:avLst/>
          </a:prstGeom>
          <a:noFill/>
          <a:ln/>
        </p:spPr>
        <p:txBody>
          <a:bodyPr wrap="square" lIns="0" tIns="0" rIns="0" bIns="0" rtlCol="0" anchor="t"/>
          <a:lstStyle/>
          <a:p>
            <a:pPr algn="l" indent="0" marL="0">
              <a:lnSpc>
                <a:spcPct val="115000"/>
              </a:lnSpc>
              <a:buNone/>
            </a:pPr>
            <a:r>
              <a:rPr lang="en-US" sz="1100" b="1" dirty="0">
                <a:solidFill>
                  <a:srgbClr val="5C6B7A"/>
                </a:solidFill>
                <a:latin typeface="Calibri" pitchFamily="34" charset="0"/>
                <a:ea typeface="Calibri" pitchFamily="34" charset="-122"/>
                <a:cs typeface="Calibri" pitchFamily="34" charset="-120"/>
              </a:rPr>
              <a:t>Day 1 · H1 2027</a:t>
            </a:r>
            <a:endParaRPr lang="en-US" sz="1100" dirty="0"/>
          </a:p>
        </p:txBody>
      </p:sp>
      <p:sp>
        <p:nvSpPr>
          <p:cNvPr id="14" name="Shape 12"/>
          <p:cNvSpPr/>
          <p:nvPr/>
        </p:nvSpPr>
        <p:spPr>
          <a:xfrm>
            <a:off x="3337560" y="2834640"/>
            <a:ext cx="2606040" cy="2926080"/>
          </a:xfrm>
          <a:prstGeom prst="roundRect">
            <a:avLst>
              <a:gd name="adj" fmla="val 4211"/>
            </a:avLst>
          </a:prstGeom>
          <a:solidFill>
            <a:srgbClr val="FFFFFF"/>
          </a:solidFill>
          <a:ln w="9525">
            <a:solidFill>
              <a:srgbClr val="D5DBE2"/>
            </a:solidFill>
            <a:prstDash val="solid"/>
          </a:ln>
        </p:spPr>
      </p:sp>
      <p:sp>
        <p:nvSpPr>
          <p:cNvPr id="15" name="Text 13"/>
          <p:cNvSpPr txBox="1"/>
          <p:nvPr/>
        </p:nvSpPr>
        <p:spPr>
          <a:xfrm>
            <a:off x="3566160" y="3017520"/>
            <a:ext cx="2148840" cy="365760"/>
          </a:xfrm>
          <a:prstGeom prst="rect">
            <a:avLst/>
          </a:prstGeom>
          <a:noFill/>
          <a:ln/>
        </p:spPr>
        <p:txBody>
          <a:bodyPr wrap="square" lIns="0" tIns="0" rIns="0" bIns="0" rtlCol="0" anchor="t"/>
          <a:lstStyle/>
          <a:p>
            <a:pPr algn="l" indent="0" marL="0">
              <a:lnSpc>
                <a:spcPct val="115000"/>
              </a:lnSpc>
              <a:buNone/>
            </a:pPr>
            <a:r>
              <a:rPr lang="en-US" sz="1500" b="1" dirty="0">
                <a:solidFill>
                  <a:srgbClr val="172029"/>
                </a:solidFill>
                <a:latin typeface="Calibri" pitchFamily="34" charset="0"/>
                <a:ea typeface="Calibri" pitchFamily="34" charset="-122"/>
                <a:cs typeface="Calibri" pitchFamily="34" charset="-120"/>
              </a:rPr>
              <a:t>Open-source launch</a:t>
            </a:r>
            <a:endParaRPr lang="en-US" sz="1500" dirty="0"/>
          </a:p>
        </p:txBody>
      </p:sp>
      <p:sp>
        <p:nvSpPr>
          <p:cNvPr id="16" name="Text 14"/>
          <p:cNvSpPr txBox="1"/>
          <p:nvPr/>
        </p:nvSpPr>
        <p:spPr>
          <a:xfrm>
            <a:off x="3566160" y="3429000"/>
            <a:ext cx="2148840" cy="155448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One-command install, Apache 2.0 repo, bill calculator, dbt DAG by verdict, Lambda backend.</a:t>
            </a:r>
            <a:endParaRPr lang="en-US" sz="1050" dirty="0"/>
          </a:p>
        </p:txBody>
      </p:sp>
      <p:sp>
        <p:nvSpPr>
          <p:cNvPr id="17" name="Shape 15"/>
          <p:cNvSpPr/>
          <p:nvPr/>
        </p:nvSpPr>
        <p:spPr>
          <a:xfrm>
            <a:off x="3566160" y="5074920"/>
            <a:ext cx="2148840" cy="457200"/>
          </a:xfrm>
          <a:prstGeom prst="roundRect">
            <a:avLst>
              <a:gd name="adj" fmla="val 14000"/>
            </a:avLst>
          </a:prstGeom>
          <a:solidFill>
            <a:srgbClr val="EEF1F4"/>
          </a:solidFill>
          <a:ln w="12700">
            <a:solidFill>
              <a:srgbClr val="EEF1F4"/>
            </a:solidFill>
            <a:prstDash val="solid"/>
          </a:ln>
        </p:spPr>
      </p:sp>
      <p:sp>
        <p:nvSpPr>
          <p:cNvPr id="18" name="Text 16"/>
          <p:cNvSpPr txBox="1"/>
          <p:nvPr/>
        </p:nvSpPr>
        <p:spPr>
          <a:xfrm>
            <a:off x="3657600" y="5074920"/>
            <a:ext cx="1965960" cy="457200"/>
          </a:xfrm>
          <a:prstGeom prst="rect">
            <a:avLst/>
          </a:prstGeom>
          <a:noFill/>
          <a:ln/>
        </p:spPr>
        <p:txBody>
          <a:bodyPr wrap="square" lIns="0" tIns="0" rIns="0" bIns="0" rtlCol="0" anchor="ctr"/>
          <a:lstStyle/>
          <a:p>
            <a:pPr algn="l" indent="0" marL="0">
              <a:lnSpc>
                <a:spcPct val="115000"/>
              </a:lnSpc>
              <a:buNone/>
            </a:pPr>
            <a:r>
              <a:rPr lang="en-US" sz="1000" b="1" dirty="0">
                <a:solidFill>
                  <a:srgbClr val="172029"/>
                </a:solidFill>
                <a:latin typeface="Calibri" pitchFamily="34" charset="0"/>
                <a:ea typeface="Calibri" pitchFamily="34" charset="-122"/>
                <a:cs typeface="Calibri" pitchFamily="34" charset="-120"/>
              </a:rPr>
              <a:t>2,000 MAU · 30 teams waitlisted</a:t>
            </a:r>
            <a:endParaRPr lang="en-US" sz="1000" dirty="0"/>
          </a:p>
        </p:txBody>
      </p:sp>
      <p:sp>
        <p:nvSpPr>
          <p:cNvPr id="19" name="Shape 17"/>
          <p:cNvSpPr/>
          <p:nvPr/>
        </p:nvSpPr>
        <p:spPr>
          <a:xfrm>
            <a:off x="6483096" y="2386584"/>
            <a:ext cx="201168" cy="201168"/>
          </a:xfrm>
          <a:prstGeom prst="ellipse">
            <a:avLst/>
          </a:prstGeom>
          <a:solidFill>
            <a:srgbClr val="3F5F92"/>
          </a:solidFill>
          <a:ln w="12700">
            <a:solidFill>
              <a:srgbClr val="3F5F92"/>
            </a:solidFill>
            <a:prstDash val="solid"/>
          </a:ln>
        </p:spPr>
      </p:sp>
      <p:sp>
        <p:nvSpPr>
          <p:cNvPr id="20" name="Text 18"/>
          <p:cNvSpPr txBox="1"/>
          <p:nvPr/>
        </p:nvSpPr>
        <p:spPr>
          <a:xfrm>
            <a:off x="6903720" y="2304288"/>
            <a:ext cx="2011680" cy="320040"/>
          </a:xfrm>
          <a:prstGeom prst="rect">
            <a:avLst/>
          </a:prstGeom>
          <a:noFill/>
          <a:ln/>
        </p:spPr>
        <p:txBody>
          <a:bodyPr wrap="square" lIns="0" tIns="0" rIns="0" bIns="0" rtlCol="0" anchor="t"/>
          <a:lstStyle/>
          <a:p>
            <a:pPr algn="l" indent="0" marL="0">
              <a:lnSpc>
                <a:spcPct val="115000"/>
              </a:lnSpc>
              <a:buNone/>
            </a:pPr>
            <a:r>
              <a:rPr lang="en-US" sz="1100" b="1" dirty="0">
                <a:solidFill>
                  <a:srgbClr val="5C6B7A"/>
                </a:solidFill>
                <a:latin typeface="Calibri" pitchFamily="34" charset="0"/>
                <a:ea typeface="Calibri" pitchFamily="34" charset="-122"/>
                <a:cs typeface="Calibri" pitchFamily="34" charset="-120"/>
              </a:rPr>
              <a:t>Day 2 · Jul 2027 – Jun 2028</a:t>
            </a:r>
            <a:endParaRPr lang="en-US" sz="1100" dirty="0"/>
          </a:p>
        </p:txBody>
      </p:sp>
      <p:sp>
        <p:nvSpPr>
          <p:cNvPr id="21" name="Shape 19"/>
          <p:cNvSpPr/>
          <p:nvPr/>
        </p:nvSpPr>
        <p:spPr>
          <a:xfrm>
            <a:off x="6126480" y="2834640"/>
            <a:ext cx="2606040" cy="2926080"/>
          </a:xfrm>
          <a:prstGeom prst="roundRect">
            <a:avLst>
              <a:gd name="adj" fmla="val 4211"/>
            </a:avLst>
          </a:prstGeom>
          <a:solidFill>
            <a:srgbClr val="FFFFFF"/>
          </a:solidFill>
          <a:ln w="9525">
            <a:solidFill>
              <a:srgbClr val="D5DBE2"/>
            </a:solidFill>
            <a:prstDash val="solid"/>
          </a:ln>
        </p:spPr>
      </p:sp>
      <p:sp>
        <p:nvSpPr>
          <p:cNvPr id="22" name="Text 20"/>
          <p:cNvSpPr txBox="1"/>
          <p:nvPr/>
        </p:nvSpPr>
        <p:spPr>
          <a:xfrm>
            <a:off x="6355080" y="3017520"/>
            <a:ext cx="2148840" cy="365760"/>
          </a:xfrm>
          <a:prstGeom prst="rect">
            <a:avLst/>
          </a:prstGeom>
          <a:noFill/>
          <a:ln/>
        </p:spPr>
        <p:txBody>
          <a:bodyPr wrap="square" lIns="0" tIns="0" rIns="0" bIns="0" rtlCol="0" anchor="t"/>
          <a:lstStyle/>
          <a:p>
            <a:pPr algn="l" indent="0" marL="0">
              <a:lnSpc>
                <a:spcPct val="115000"/>
              </a:lnSpc>
              <a:buNone/>
            </a:pPr>
            <a:r>
              <a:rPr lang="en-US" sz="1500" b="1" dirty="0">
                <a:solidFill>
                  <a:srgbClr val="172029"/>
                </a:solidFill>
                <a:latin typeface="Calibri" pitchFamily="34" charset="0"/>
                <a:ea typeface="Calibri" pitchFamily="34" charset="-122"/>
                <a:cs typeface="Calibri" pitchFamily="34" charset="-120"/>
              </a:rPr>
              <a:t>Team product</a:t>
            </a:r>
            <a:endParaRPr lang="en-US" sz="1500" dirty="0"/>
          </a:p>
        </p:txBody>
      </p:sp>
      <p:sp>
        <p:nvSpPr>
          <p:cNvPr id="23" name="Text 21"/>
          <p:cNvSpPr txBox="1"/>
          <p:nvPr/>
        </p:nvSpPr>
        <p:spPr>
          <a:xfrm>
            <a:off x="6355080" y="3429000"/>
            <a:ext cx="2148840" cy="155448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Hosted catalog, billing, scheduling, split dbt runs, GCP and R2, remote MCP and the platforms API. Revenue starts.</a:t>
            </a:r>
            <a:endParaRPr lang="en-US" sz="1050" dirty="0"/>
          </a:p>
        </p:txBody>
      </p:sp>
      <p:sp>
        <p:nvSpPr>
          <p:cNvPr id="24" name="Shape 22"/>
          <p:cNvSpPr/>
          <p:nvPr/>
        </p:nvSpPr>
        <p:spPr>
          <a:xfrm>
            <a:off x="6355080" y="5074920"/>
            <a:ext cx="2148840" cy="457200"/>
          </a:xfrm>
          <a:prstGeom prst="roundRect">
            <a:avLst>
              <a:gd name="adj" fmla="val 14000"/>
            </a:avLst>
          </a:prstGeom>
          <a:solidFill>
            <a:srgbClr val="EEF1F4"/>
          </a:solidFill>
          <a:ln w="12700">
            <a:solidFill>
              <a:srgbClr val="EEF1F4"/>
            </a:solidFill>
            <a:prstDash val="solid"/>
          </a:ln>
        </p:spPr>
      </p:sp>
      <p:sp>
        <p:nvSpPr>
          <p:cNvPr id="25" name="Text 23"/>
          <p:cNvSpPr txBox="1"/>
          <p:nvPr/>
        </p:nvSpPr>
        <p:spPr>
          <a:xfrm>
            <a:off x="6446520" y="5074920"/>
            <a:ext cx="1965960" cy="457200"/>
          </a:xfrm>
          <a:prstGeom prst="rect">
            <a:avLst/>
          </a:prstGeom>
          <a:noFill/>
          <a:ln/>
        </p:spPr>
        <p:txBody>
          <a:bodyPr wrap="square" lIns="0" tIns="0" rIns="0" bIns="0" rtlCol="0" anchor="ctr"/>
          <a:lstStyle/>
          <a:p>
            <a:pPr algn="l" indent="0" marL="0">
              <a:lnSpc>
                <a:spcPct val="115000"/>
              </a:lnSpc>
              <a:buNone/>
            </a:pPr>
            <a:r>
              <a:rPr lang="en-US" sz="1000" b="1" dirty="0">
                <a:solidFill>
                  <a:srgbClr val="172029"/>
                </a:solidFill>
                <a:latin typeface="Calibri" pitchFamily="34" charset="0"/>
                <a:ea typeface="Calibri" pitchFamily="34" charset="-122"/>
                <a:cs typeface="Calibri" pitchFamily="34" charset="-120"/>
              </a:rPr>
              <a:t>Seed on ~200 teams, ~$300K ARR</a:t>
            </a:r>
            <a:endParaRPr lang="en-US" sz="1000" dirty="0"/>
          </a:p>
        </p:txBody>
      </p:sp>
      <p:sp>
        <p:nvSpPr>
          <p:cNvPr id="26" name="Shape 24"/>
          <p:cNvSpPr/>
          <p:nvPr/>
        </p:nvSpPr>
        <p:spPr>
          <a:xfrm>
            <a:off x="9272016" y="2386584"/>
            <a:ext cx="201168" cy="201168"/>
          </a:xfrm>
          <a:prstGeom prst="ellipse">
            <a:avLst/>
          </a:prstGeom>
          <a:solidFill>
            <a:srgbClr val="1F8A5B"/>
          </a:solidFill>
          <a:ln w="12700">
            <a:solidFill>
              <a:srgbClr val="1F8A5B"/>
            </a:solidFill>
            <a:prstDash val="solid"/>
          </a:ln>
        </p:spPr>
      </p:sp>
      <p:sp>
        <p:nvSpPr>
          <p:cNvPr id="27" name="Text 25"/>
          <p:cNvSpPr txBox="1"/>
          <p:nvPr/>
        </p:nvSpPr>
        <p:spPr>
          <a:xfrm>
            <a:off x="9692640" y="2304288"/>
            <a:ext cx="2011680" cy="320040"/>
          </a:xfrm>
          <a:prstGeom prst="rect">
            <a:avLst/>
          </a:prstGeom>
          <a:noFill/>
          <a:ln/>
        </p:spPr>
        <p:txBody>
          <a:bodyPr wrap="square" lIns="0" tIns="0" rIns="0" bIns="0" rtlCol="0" anchor="t"/>
          <a:lstStyle/>
          <a:p>
            <a:pPr algn="l" indent="0" marL="0">
              <a:lnSpc>
                <a:spcPct val="115000"/>
              </a:lnSpc>
              <a:buNone/>
            </a:pPr>
            <a:r>
              <a:rPr lang="en-US" sz="1100" b="1" dirty="0">
                <a:solidFill>
                  <a:srgbClr val="5C6B7A"/>
                </a:solidFill>
                <a:latin typeface="Calibri" pitchFamily="34" charset="0"/>
                <a:ea typeface="Calibri" pitchFamily="34" charset="-122"/>
                <a:cs typeface="Calibri" pitchFamily="34" charset="-120"/>
              </a:rPr>
              <a:t>Day 3 · Jul 2028 – Dec 2029</a:t>
            </a:r>
            <a:endParaRPr lang="en-US" sz="1100" dirty="0"/>
          </a:p>
        </p:txBody>
      </p:sp>
      <p:sp>
        <p:nvSpPr>
          <p:cNvPr id="28" name="Shape 26"/>
          <p:cNvSpPr/>
          <p:nvPr/>
        </p:nvSpPr>
        <p:spPr>
          <a:xfrm>
            <a:off x="8915400" y="2834640"/>
            <a:ext cx="2606040" cy="2926080"/>
          </a:xfrm>
          <a:prstGeom prst="roundRect">
            <a:avLst>
              <a:gd name="adj" fmla="val 4211"/>
            </a:avLst>
          </a:prstGeom>
          <a:solidFill>
            <a:srgbClr val="FFFFFF"/>
          </a:solidFill>
          <a:ln w="9525">
            <a:solidFill>
              <a:srgbClr val="D5DBE2"/>
            </a:solidFill>
            <a:prstDash val="solid"/>
          </a:ln>
        </p:spPr>
      </p:sp>
      <p:sp>
        <p:nvSpPr>
          <p:cNvPr id="29" name="Text 27"/>
          <p:cNvSpPr txBox="1"/>
          <p:nvPr/>
        </p:nvSpPr>
        <p:spPr>
          <a:xfrm>
            <a:off x="9144000" y="3017520"/>
            <a:ext cx="2148840" cy="365760"/>
          </a:xfrm>
          <a:prstGeom prst="rect">
            <a:avLst/>
          </a:prstGeom>
          <a:noFill/>
          <a:ln/>
        </p:spPr>
        <p:txBody>
          <a:bodyPr wrap="square" lIns="0" tIns="0" rIns="0" bIns="0" rtlCol="0" anchor="t"/>
          <a:lstStyle/>
          <a:p>
            <a:pPr algn="l" indent="0" marL="0">
              <a:lnSpc>
                <a:spcPct val="115000"/>
              </a:lnSpc>
              <a:buNone/>
            </a:pPr>
            <a:r>
              <a:rPr lang="en-US" sz="1500" b="1" dirty="0">
                <a:solidFill>
                  <a:srgbClr val="172029"/>
                </a:solidFill>
                <a:latin typeface="Calibri" pitchFamily="34" charset="0"/>
                <a:ea typeface="Calibri" pitchFamily="34" charset="-122"/>
                <a:cs typeface="Calibri" pitchFamily="34" charset="-120"/>
              </a:rPr>
              <a:t>Company product</a:t>
            </a:r>
            <a:endParaRPr lang="en-US" sz="1500" dirty="0"/>
          </a:p>
        </p:txBody>
      </p:sp>
      <p:sp>
        <p:nvSpPr>
          <p:cNvPr id="30" name="Text 28"/>
          <p:cNvSpPr txBox="1"/>
          <p:nvPr/>
        </p:nvSpPr>
        <p:spPr>
          <a:xfrm>
            <a:off x="9144000" y="3429000"/>
            <a:ext cx="2148840" cy="155448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Self-hosted control plane, SSO, audit, SOC 2, connectors, lineage, Rust core.</a:t>
            </a:r>
            <a:endParaRPr lang="en-US" sz="1050" dirty="0"/>
          </a:p>
        </p:txBody>
      </p:sp>
      <p:sp>
        <p:nvSpPr>
          <p:cNvPr id="31" name="Shape 29"/>
          <p:cNvSpPr/>
          <p:nvPr/>
        </p:nvSpPr>
        <p:spPr>
          <a:xfrm>
            <a:off x="9144000" y="5074920"/>
            <a:ext cx="2148840" cy="457200"/>
          </a:xfrm>
          <a:prstGeom prst="roundRect">
            <a:avLst>
              <a:gd name="adj" fmla="val 14000"/>
            </a:avLst>
          </a:prstGeom>
          <a:solidFill>
            <a:srgbClr val="EEF1F4"/>
          </a:solidFill>
          <a:ln w="12700">
            <a:solidFill>
              <a:srgbClr val="EEF1F4"/>
            </a:solidFill>
            <a:prstDash val="solid"/>
          </a:ln>
        </p:spPr>
      </p:sp>
      <p:sp>
        <p:nvSpPr>
          <p:cNvPr id="32" name="Text 30"/>
          <p:cNvSpPr txBox="1"/>
          <p:nvPr/>
        </p:nvSpPr>
        <p:spPr>
          <a:xfrm>
            <a:off x="9235440" y="5074920"/>
            <a:ext cx="1965960" cy="457200"/>
          </a:xfrm>
          <a:prstGeom prst="rect">
            <a:avLst/>
          </a:prstGeom>
          <a:noFill/>
          <a:ln/>
        </p:spPr>
        <p:txBody>
          <a:bodyPr wrap="square" lIns="0" tIns="0" rIns="0" bIns="0" rtlCol="0" anchor="ctr"/>
          <a:lstStyle/>
          <a:p>
            <a:pPr algn="l" indent="0" marL="0">
              <a:lnSpc>
                <a:spcPct val="115000"/>
              </a:lnSpc>
              <a:buNone/>
            </a:pPr>
            <a:r>
              <a:rPr lang="en-US" sz="1000" b="1" dirty="0">
                <a:solidFill>
                  <a:srgbClr val="172029"/>
                </a:solidFill>
                <a:latin typeface="Calibri" pitchFamily="34" charset="0"/>
                <a:ea typeface="Calibri" pitchFamily="34" charset="-122"/>
                <a:cs typeface="Calibri" pitchFamily="34" charset="-120"/>
              </a:rPr>
              <a:t>Series A on $1–3M ARR</a:t>
            </a:r>
            <a:endParaRPr lang="en-US" sz="1000" dirty="0"/>
          </a:p>
        </p:txBody>
      </p:sp>
      <p:sp>
        <p:nvSpPr>
          <p:cNvPr id="33" name="Text 31"/>
          <p:cNvSpPr txBox="1"/>
          <p:nvPr/>
        </p:nvSpPr>
        <p:spPr>
          <a:xfrm>
            <a:off x="548640" y="5943600"/>
            <a:ext cx="11091672" cy="411480"/>
          </a:xfrm>
          <a:prstGeom prst="rect">
            <a:avLst/>
          </a:prstGeom>
          <a:noFill/>
          <a:ln/>
        </p:spPr>
        <p:txBody>
          <a:bodyPr wrap="square" lIns="0" tIns="0" rIns="0" bIns="0" rtlCol="0" anchor="t"/>
          <a:lstStyle/>
          <a:p>
            <a:pPr algn="l" indent="0" marL="0">
              <a:lnSpc>
                <a:spcPct val="115000"/>
              </a:lnSpc>
              <a:buNone/>
            </a:pPr>
            <a:r>
              <a:rPr lang="en-US" sz="1050" dirty="0">
                <a:solidFill>
                  <a:srgbClr val="5C6B7A"/>
                </a:solidFill>
                <a:latin typeface="Calibri" pitchFamily="34" charset="0"/>
                <a:ea typeface="Calibri" pitchFamily="34" charset="-122"/>
                <a:cs typeface="Calibri" pitchFamily="34" charset="-120"/>
              </a:rPr>
              <a:t>Base case ARR: $49K end-2027 · $326K end-2028 · $1.35M end-2029, on 1.5–2.5% seat conversion from 8K → 40K → 120K monthly actives. Full assumptions and sources in the financial plan.</a:t>
            </a:r>
            <a:endParaRPr lang="en-US" sz="1050" dirty="0"/>
          </a:p>
        </p:txBody>
      </p:sp>
      <p:sp>
        <p:nvSpPr>
          <p:cNvPr id="34" name="Text 32"/>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35" name="Text 33"/>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2029"/>
        </a:solidFill>
      </p:bgPr>
    </p:bg>
    <p:spTree>
      <p:nvGrpSpPr>
        <p:cNvPr id="1" name=""/>
        <p:cNvGrpSpPr/>
        <p:nvPr/>
      </p:nvGrpSpPr>
      <p:grpSpPr>
        <a:xfrm>
          <a:off x="0" y="0"/>
          <a:ext cx="0" cy="0"/>
          <a:chOff x="0" y="0"/>
          <a:chExt cx="0" cy="0"/>
        </a:xfrm>
      </p:grpSpPr>
      <p:sp>
        <p:nvSpPr>
          <p:cNvPr id="2" name="Text 0"/>
          <p:cNvSpPr txBox="1"/>
          <p:nvPr/>
        </p:nvSpPr>
        <p:spPr>
          <a:xfrm>
            <a:off x="548640" y="548640"/>
            <a:ext cx="3657600" cy="365760"/>
          </a:xfrm>
          <a:prstGeom prst="rect">
            <a:avLst/>
          </a:prstGeom>
          <a:noFill/>
          <a:ln/>
        </p:spPr>
        <p:txBody>
          <a:bodyPr wrap="square" lIns="0" tIns="0" rIns="0" bIns="0" rtlCol="0" anchor="t"/>
          <a:lstStyle/>
          <a:p>
            <a:pPr algn="l" indent="0" marL="0">
              <a:lnSpc>
                <a:spcPct val="115000"/>
              </a:lnSpc>
              <a:buNone/>
            </a:pPr>
            <a:r>
              <a:rPr lang="en-US" sz="1400" b="1" dirty="0">
                <a:solidFill>
                  <a:srgbClr val="9AA8B6"/>
                </a:solidFill>
                <a:latin typeface="Calibri" pitchFamily="34" charset="0"/>
                <a:ea typeface="Calibri" pitchFamily="34" charset="-122"/>
                <a:cs typeface="Calibri" pitchFamily="34" charset="-120"/>
              </a:rPr>
              <a:t>The ask</a:t>
            </a:r>
            <a:endParaRPr lang="en-US" sz="1400" dirty="0"/>
          </a:p>
        </p:txBody>
      </p:sp>
      <p:sp>
        <p:nvSpPr>
          <p:cNvPr id="3" name="Text 1"/>
          <p:cNvSpPr txBox="1"/>
          <p:nvPr/>
        </p:nvSpPr>
        <p:spPr>
          <a:xfrm>
            <a:off x="548640" y="1097280"/>
            <a:ext cx="7863840" cy="1463040"/>
          </a:xfrm>
          <a:prstGeom prst="rect">
            <a:avLst/>
          </a:prstGeom>
          <a:noFill/>
          <a:ln/>
        </p:spPr>
        <p:txBody>
          <a:bodyPr wrap="square" lIns="0" tIns="0" rIns="0" bIns="0" rtlCol="0" anchor="t"/>
          <a:lstStyle/>
          <a:p>
            <a:pPr algn="l" indent="0" marL="0">
              <a:lnSpc>
                <a:spcPct val="105000"/>
              </a:lnSpc>
              <a:buNone/>
            </a:pPr>
            <a:r>
              <a:rPr lang="en-US" sz="3400" b="1" spc="-100" kern="0" dirty="0">
                <a:solidFill>
                  <a:srgbClr val="FFFFFF"/>
                </a:solidFill>
                <a:latin typeface="Calibri" pitchFamily="34" charset="0"/>
                <a:ea typeface="Calibri" pitchFamily="34" charset="-122"/>
                <a:cs typeface="Calibri" pitchFamily="34" charset="-120"/>
              </a:rPr>
              <a:t>$1.5M pre-seed to launch Lakelet open source and reach the team product in 18 months.</a:t>
            </a:r>
            <a:endParaRPr lang="en-US" sz="3400" dirty="0"/>
          </a:p>
        </p:txBody>
      </p:sp>
      <p:sp>
        <p:nvSpPr>
          <p:cNvPr id="4" name="Shape 2"/>
          <p:cNvSpPr/>
          <p:nvPr/>
        </p:nvSpPr>
        <p:spPr>
          <a:xfrm>
            <a:off x="548640" y="3063240"/>
            <a:ext cx="3520440" cy="1554480"/>
          </a:xfrm>
          <a:prstGeom prst="roundRect">
            <a:avLst>
              <a:gd name="adj" fmla="val 7059"/>
            </a:avLst>
          </a:prstGeom>
          <a:solidFill>
            <a:srgbClr val="22303D"/>
          </a:solidFill>
          <a:ln w="9525">
            <a:solidFill>
              <a:srgbClr val="3A4856"/>
            </a:solidFill>
            <a:prstDash val="solid"/>
          </a:ln>
        </p:spPr>
      </p:sp>
      <p:sp>
        <p:nvSpPr>
          <p:cNvPr id="5" name="Text 3"/>
          <p:cNvSpPr txBox="1"/>
          <p:nvPr/>
        </p:nvSpPr>
        <p:spPr>
          <a:xfrm>
            <a:off x="822960" y="3291840"/>
            <a:ext cx="2926080" cy="320040"/>
          </a:xfrm>
          <a:prstGeom prst="rect">
            <a:avLst/>
          </a:prstGeom>
          <a:noFill/>
          <a:ln/>
        </p:spPr>
        <p:txBody>
          <a:bodyPr wrap="square" lIns="0" tIns="0" rIns="0" bIns="0" rtlCol="0" anchor="t"/>
          <a:lstStyle/>
          <a:p>
            <a:pPr algn="l" indent="0" marL="0">
              <a:lnSpc>
                <a:spcPct val="115000"/>
              </a:lnSpc>
              <a:buNone/>
            </a:pPr>
            <a:r>
              <a:rPr lang="en-US" sz="1400" b="1" dirty="0">
                <a:solidFill>
                  <a:srgbClr val="9AA8B6"/>
                </a:solidFill>
                <a:latin typeface="Calibri" pitchFamily="34" charset="0"/>
                <a:ea typeface="Calibri" pitchFamily="34" charset="-122"/>
                <a:cs typeface="Calibri" pitchFamily="34" charset="-120"/>
              </a:rPr>
              <a:t>Dec 2026 · Day 0 done</a:t>
            </a:r>
            <a:endParaRPr lang="en-US" sz="1400" dirty="0"/>
          </a:p>
        </p:txBody>
      </p:sp>
      <p:sp>
        <p:nvSpPr>
          <p:cNvPr id="6" name="Text 4"/>
          <p:cNvSpPr txBox="1"/>
          <p:nvPr/>
        </p:nvSpPr>
        <p:spPr>
          <a:xfrm>
            <a:off x="822960" y="3657600"/>
            <a:ext cx="2971800" cy="822960"/>
          </a:xfrm>
          <a:prstGeom prst="rect">
            <a:avLst/>
          </a:prstGeom>
          <a:noFill/>
          <a:ln/>
        </p:spPr>
        <p:txBody>
          <a:bodyPr wrap="square" lIns="0" tIns="0" rIns="0" bIns="0" rtlCol="0" anchor="t"/>
          <a:lstStyle/>
          <a:p>
            <a:pPr algn="l" indent="0" marL="0">
              <a:lnSpc>
                <a:spcPct val="115000"/>
              </a:lnSpc>
              <a:buNone/>
            </a:pPr>
            <a:r>
              <a:rPr lang="en-US" sz="1400" dirty="0">
                <a:solidFill>
                  <a:srgbClr val="FFFFFF"/>
                </a:solidFill>
                <a:latin typeface="Calibri" pitchFamily="34" charset="0"/>
                <a:ea typeface="Calibri" pitchFamily="34" charset="-122"/>
                <a:cs typeface="Calibri" pitchFamily="34" charset="-120"/>
              </a:rPr>
              <a:t>Ten design partners on real workloads. Gauge within 2× on 80% of runs. Ten bursts under cap. Agents connected over MCP.</a:t>
            </a:r>
            <a:endParaRPr lang="en-US" sz="1400" dirty="0"/>
          </a:p>
        </p:txBody>
      </p:sp>
      <p:sp>
        <p:nvSpPr>
          <p:cNvPr id="7" name="Shape 5"/>
          <p:cNvSpPr/>
          <p:nvPr/>
        </p:nvSpPr>
        <p:spPr>
          <a:xfrm>
            <a:off x="4297680" y="3063240"/>
            <a:ext cx="3520440" cy="1554480"/>
          </a:xfrm>
          <a:prstGeom prst="roundRect">
            <a:avLst>
              <a:gd name="adj" fmla="val 7059"/>
            </a:avLst>
          </a:prstGeom>
          <a:solidFill>
            <a:srgbClr val="22303D"/>
          </a:solidFill>
          <a:ln w="9525">
            <a:solidFill>
              <a:srgbClr val="3A4856"/>
            </a:solidFill>
            <a:prstDash val="solid"/>
          </a:ln>
        </p:spPr>
      </p:sp>
      <p:sp>
        <p:nvSpPr>
          <p:cNvPr id="8" name="Text 6"/>
          <p:cNvSpPr txBox="1"/>
          <p:nvPr/>
        </p:nvSpPr>
        <p:spPr>
          <a:xfrm>
            <a:off x="4572000" y="3291840"/>
            <a:ext cx="2926080" cy="320040"/>
          </a:xfrm>
          <a:prstGeom prst="rect">
            <a:avLst/>
          </a:prstGeom>
          <a:noFill/>
          <a:ln/>
        </p:spPr>
        <p:txBody>
          <a:bodyPr wrap="square" lIns="0" tIns="0" rIns="0" bIns="0" rtlCol="0" anchor="t"/>
          <a:lstStyle/>
          <a:p>
            <a:pPr algn="l" indent="0" marL="0">
              <a:lnSpc>
                <a:spcPct val="115000"/>
              </a:lnSpc>
              <a:buNone/>
            </a:pPr>
            <a:r>
              <a:rPr lang="en-US" sz="1400" b="1" dirty="0">
                <a:solidFill>
                  <a:srgbClr val="9AA8B6"/>
                </a:solidFill>
                <a:latin typeface="Calibri" pitchFamily="34" charset="0"/>
                <a:ea typeface="Calibri" pitchFamily="34" charset="-122"/>
                <a:cs typeface="Calibri" pitchFamily="34" charset="-120"/>
              </a:rPr>
              <a:t>Jun 2027 · Day 1 done</a:t>
            </a:r>
            <a:endParaRPr lang="en-US" sz="1400" dirty="0"/>
          </a:p>
        </p:txBody>
      </p:sp>
      <p:sp>
        <p:nvSpPr>
          <p:cNvPr id="9" name="Text 7"/>
          <p:cNvSpPr txBox="1"/>
          <p:nvPr/>
        </p:nvSpPr>
        <p:spPr>
          <a:xfrm>
            <a:off x="4572000" y="3657600"/>
            <a:ext cx="2971800" cy="822960"/>
          </a:xfrm>
          <a:prstGeom prst="rect">
            <a:avLst/>
          </a:prstGeom>
          <a:noFill/>
          <a:ln/>
        </p:spPr>
        <p:txBody>
          <a:bodyPr wrap="square" lIns="0" tIns="0" rIns="0" bIns="0" rtlCol="0" anchor="t"/>
          <a:lstStyle/>
          <a:p>
            <a:pPr algn="l" indent="0" marL="0">
              <a:lnSpc>
                <a:spcPct val="115000"/>
              </a:lnSpc>
              <a:buNone/>
            </a:pPr>
            <a:r>
              <a:rPr lang="en-US" sz="1400" dirty="0">
                <a:solidFill>
                  <a:srgbClr val="FFFFFF"/>
                </a:solidFill>
                <a:latin typeface="Calibri" pitchFamily="34" charset="0"/>
                <a:ea typeface="Calibri" pitchFamily="34" charset="-122"/>
                <a:cs typeface="Calibri" pitchFamily="34" charset="-120"/>
              </a:rPr>
              <a:t>Open-source launch. 2,000 monthly actives, 30 teams waitlisted with a real bill.</a:t>
            </a:r>
            <a:endParaRPr lang="en-US" sz="1400" dirty="0"/>
          </a:p>
        </p:txBody>
      </p:sp>
      <p:sp>
        <p:nvSpPr>
          <p:cNvPr id="10" name="Shape 8"/>
          <p:cNvSpPr/>
          <p:nvPr/>
        </p:nvSpPr>
        <p:spPr>
          <a:xfrm>
            <a:off x="8046720" y="3063240"/>
            <a:ext cx="3520440" cy="1554480"/>
          </a:xfrm>
          <a:prstGeom prst="roundRect">
            <a:avLst>
              <a:gd name="adj" fmla="val 7059"/>
            </a:avLst>
          </a:prstGeom>
          <a:solidFill>
            <a:srgbClr val="22303D"/>
          </a:solidFill>
          <a:ln w="9525">
            <a:solidFill>
              <a:srgbClr val="3A4856"/>
            </a:solidFill>
            <a:prstDash val="solid"/>
          </a:ln>
        </p:spPr>
      </p:sp>
      <p:sp>
        <p:nvSpPr>
          <p:cNvPr id="11" name="Text 9"/>
          <p:cNvSpPr txBox="1"/>
          <p:nvPr/>
        </p:nvSpPr>
        <p:spPr>
          <a:xfrm>
            <a:off x="8321040" y="3291840"/>
            <a:ext cx="2926080" cy="320040"/>
          </a:xfrm>
          <a:prstGeom prst="rect">
            <a:avLst/>
          </a:prstGeom>
          <a:noFill/>
          <a:ln/>
        </p:spPr>
        <p:txBody>
          <a:bodyPr wrap="square" lIns="0" tIns="0" rIns="0" bIns="0" rtlCol="0" anchor="t"/>
          <a:lstStyle/>
          <a:p>
            <a:pPr algn="l" indent="0" marL="0">
              <a:lnSpc>
                <a:spcPct val="115000"/>
              </a:lnSpc>
              <a:buNone/>
            </a:pPr>
            <a:r>
              <a:rPr lang="en-US" sz="1400" b="1" dirty="0">
                <a:solidFill>
                  <a:srgbClr val="9AA8B6"/>
                </a:solidFill>
                <a:latin typeface="Calibri" pitchFamily="34" charset="0"/>
                <a:ea typeface="Calibri" pitchFamily="34" charset="-122"/>
                <a:cs typeface="Calibri" pitchFamily="34" charset="-120"/>
              </a:rPr>
              <a:t>Jun 2028 · Day 2 done</a:t>
            </a:r>
            <a:endParaRPr lang="en-US" sz="1400" dirty="0"/>
          </a:p>
        </p:txBody>
      </p:sp>
      <p:sp>
        <p:nvSpPr>
          <p:cNvPr id="12" name="Text 10"/>
          <p:cNvSpPr txBox="1"/>
          <p:nvPr/>
        </p:nvSpPr>
        <p:spPr>
          <a:xfrm>
            <a:off x="8321040" y="3657600"/>
            <a:ext cx="2971800" cy="822960"/>
          </a:xfrm>
          <a:prstGeom prst="rect">
            <a:avLst/>
          </a:prstGeom>
          <a:noFill/>
          <a:ln/>
        </p:spPr>
        <p:txBody>
          <a:bodyPr wrap="square" lIns="0" tIns="0" rIns="0" bIns="0" rtlCol="0" anchor="t"/>
          <a:lstStyle/>
          <a:p>
            <a:pPr algn="l" indent="0" marL="0">
              <a:lnSpc>
                <a:spcPct val="115000"/>
              </a:lnSpc>
              <a:buNone/>
            </a:pPr>
            <a:r>
              <a:rPr lang="en-US" sz="1400" dirty="0">
                <a:solidFill>
                  <a:srgbClr val="FFFFFF"/>
                </a:solidFill>
                <a:latin typeface="Calibri" pitchFamily="34" charset="0"/>
                <a:ea typeface="Calibri" pitchFamily="34" charset="-122"/>
                <a:cs typeface="Calibri" pitchFamily="34" charset="-120"/>
              </a:rPr>
              <a:t>Team catalog and billing live. ~200 paying teams. First platform provisioning projects. Seed raised.</a:t>
            </a:r>
            <a:endParaRPr lang="en-US" sz="1400" dirty="0"/>
          </a:p>
        </p:txBody>
      </p:sp>
      <p:sp>
        <p:nvSpPr>
          <p:cNvPr id="13" name="Text 11"/>
          <p:cNvSpPr txBox="1"/>
          <p:nvPr/>
        </p:nvSpPr>
        <p:spPr>
          <a:xfrm>
            <a:off x="548640" y="4983480"/>
            <a:ext cx="8229600" cy="365760"/>
          </a:xfrm>
          <a:prstGeom prst="rect">
            <a:avLst/>
          </a:prstGeom>
          <a:noFill/>
          <a:ln/>
        </p:spPr>
        <p:txBody>
          <a:bodyPr wrap="square" lIns="0" tIns="0" rIns="0" bIns="0" rtlCol="0" anchor="t"/>
          <a:lstStyle/>
          <a:p>
            <a:pPr algn="l" indent="0" marL="0">
              <a:lnSpc>
                <a:spcPct val="115000"/>
              </a:lnSpc>
              <a:buNone/>
            </a:pPr>
            <a:r>
              <a:rPr lang="en-US" sz="1400" dirty="0">
                <a:solidFill>
                  <a:srgbClr val="C9D2DC"/>
                </a:solidFill>
                <a:latin typeface="Calibri" pitchFamily="34" charset="0"/>
                <a:ea typeface="Calibri" pitchFamily="34" charset="-122"/>
                <a:cs typeface="Calibri" pitchFamily="34" charset="-120"/>
              </a:rPr>
              <a:t>Use of funds: two engineers now, a third plus developer relations in 2027, cloud credits for burst and calibration, the open-source launch. No sales hire before 2029.</a:t>
            </a:r>
            <a:endParaRPr lang="en-US" sz="1400" dirty="0"/>
          </a:p>
        </p:txBody>
      </p:sp>
      <p:sp>
        <p:nvSpPr>
          <p:cNvPr id="14" name="Text 12"/>
          <p:cNvSpPr txBox="1"/>
          <p:nvPr/>
        </p:nvSpPr>
        <p:spPr>
          <a:xfrm>
            <a:off x="548640" y="6035040"/>
            <a:ext cx="4572000" cy="274320"/>
          </a:xfrm>
          <a:prstGeom prst="rect">
            <a:avLst/>
          </a:prstGeom>
          <a:noFill/>
          <a:ln/>
        </p:spPr>
        <p:txBody>
          <a:bodyPr wrap="square" lIns="0" tIns="0" rIns="0" bIns="0" rtlCol="0" anchor="t"/>
          <a:lstStyle/>
          <a:p>
            <a:pPr algn="l" indent="0" marL="0">
              <a:lnSpc>
                <a:spcPct val="115000"/>
              </a:lnSpc>
              <a:buNone/>
            </a:pPr>
            <a:r>
              <a:rPr lang="en-US" sz="1300" b="1" dirty="0">
                <a:solidFill>
                  <a:srgbClr val="FFFFFF"/>
                </a:solidFill>
                <a:latin typeface="Calibri" pitchFamily="34" charset="0"/>
                <a:ea typeface="Calibri" pitchFamily="34" charset="-122"/>
                <a:cs typeface="Calibri" pitchFamily="34" charset="-120"/>
              </a:rPr>
              <a:t>hello@lakelet.dev</a:t>
            </a:r>
            <a:endParaRPr lang="en-US" sz="1300" dirty="0"/>
          </a:p>
        </p:txBody>
      </p:sp>
      <p:sp>
        <p:nvSpPr>
          <p:cNvPr id="15" name="Text 13"/>
          <p:cNvSpPr txBox="1"/>
          <p:nvPr/>
        </p:nvSpPr>
        <p:spPr>
          <a:xfrm>
            <a:off x="548640" y="6400800"/>
            <a:ext cx="2743200" cy="274320"/>
          </a:xfrm>
          <a:prstGeom prst="rect">
            <a:avLst/>
          </a:prstGeom>
          <a:noFill/>
          <a:ln/>
        </p:spPr>
        <p:txBody>
          <a:bodyPr wrap="square" lIns="0" tIns="0" rIns="0" bIns="0" rtlCol="0" anchor="t"/>
          <a:lstStyle/>
          <a:p>
            <a:pPr algn="l" indent="0" marL="0">
              <a:lnSpc>
                <a:spcPct val="115000"/>
              </a:lnSpc>
              <a:buNone/>
            </a:pPr>
            <a:r>
              <a:rPr lang="en-US" sz="1000" b="1" dirty="0">
                <a:solidFill>
                  <a:srgbClr val="5C6B7A"/>
                </a:solidFill>
                <a:latin typeface="Calibri" pitchFamily="34" charset="0"/>
                <a:ea typeface="Calibri" pitchFamily="34" charset="-122"/>
                <a:cs typeface="Calibri" pitchFamily="34" charset="-120"/>
              </a:rPr>
              <a:t>Lakelet</a:t>
            </a:r>
            <a:endParaRPr lang="en-US" sz="1000" dirty="0"/>
          </a:p>
        </p:txBody>
      </p:sp>
      <p:sp>
        <p:nvSpPr>
          <p:cNvPr id="16" name="Text 14"/>
          <p:cNvSpPr txBox="1"/>
          <p:nvPr/>
        </p:nvSpPr>
        <p:spPr>
          <a:xfrm>
            <a:off x="10725912" y="6400800"/>
            <a:ext cx="914400" cy="274320"/>
          </a:xfrm>
          <a:prstGeom prst="rect">
            <a:avLst/>
          </a:prstGeom>
          <a:noFill/>
          <a:ln/>
        </p:spPr>
        <p:txBody>
          <a:bodyPr wrap="square" lIns="0" tIns="0" rIns="0" bIns="0" rtlCol="0" anchor="t"/>
          <a:lstStyle/>
          <a:p>
            <a:pPr algn="r" indent="0" marL="0">
              <a:lnSpc>
                <a:spcPct val="115000"/>
              </a:lnSpc>
              <a:buNone/>
            </a:pPr>
            <a:r>
              <a:rPr lang="en-US" sz="1000" dirty="0">
                <a:solidFill>
                  <a:srgbClr val="5C6B7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Lakelet</dc:creator>
  <cp:lastModifiedBy>Lakelet</cp:lastModifiedBy>
  <cp:revision>1</cp:revision>
  <dcterms:created xsi:type="dcterms:W3CDTF">2026-09-07T20:52:32Z</dcterms:created>
  <dcterms:modified xsi:type="dcterms:W3CDTF">2026-09-07T20:52:32Z</dcterms:modified>
</cp:coreProperties>
</file>